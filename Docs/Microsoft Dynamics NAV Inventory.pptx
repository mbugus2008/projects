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104" d="100"/>
          <a:sy n="104" d="100"/>
        </p:scale>
        <p:origin x="14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90FC-975D-B15B-75CD-2EF4D56C36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E8C2C9-7F82-2E7F-6BC2-C26DC85211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440AE1-6552-9F20-D791-F2FDD4019F80}"/>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5" name="Footer Placeholder 4">
            <a:extLst>
              <a:ext uri="{FF2B5EF4-FFF2-40B4-BE49-F238E27FC236}">
                <a16:creationId xmlns:a16="http://schemas.microsoft.com/office/drawing/2014/main" id="{6310A43F-ED2C-4E73-8222-8DDD1DB5F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1D17B-99F8-26FD-2461-73808C63C233}"/>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362274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393A-985C-48F4-0901-A6D4C0A968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1E9840-6B59-A113-9159-B849C09C25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CE37FA-3027-2253-60D6-BAB975134313}"/>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5" name="Footer Placeholder 4">
            <a:extLst>
              <a:ext uri="{FF2B5EF4-FFF2-40B4-BE49-F238E27FC236}">
                <a16:creationId xmlns:a16="http://schemas.microsoft.com/office/drawing/2014/main" id="{4880D849-BB92-8F32-8357-A7B88D2AF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3CCE4-FC8B-41E0-9484-10CE592403CB}"/>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548866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34630-6C58-C9CC-CD58-C18E2A89AD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962A55-D70A-6C49-4389-3066E7C546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C38421-8FDB-0835-E68B-2F0FE1B41450}"/>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5" name="Footer Placeholder 4">
            <a:extLst>
              <a:ext uri="{FF2B5EF4-FFF2-40B4-BE49-F238E27FC236}">
                <a16:creationId xmlns:a16="http://schemas.microsoft.com/office/drawing/2014/main" id="{BD839DC2-CF4C-B841-4371-7729A33AE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C15DDF-2191-E084-6809-08CCDDA6B8DB}"/>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886534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824A-181F-DDE1-8F17-EDAE25DB65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8D3251-D70F-AC27-CBAD-CEF018BEC2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31D0E2-9833-788D-76CF-90A228D357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9EDE91-3FA7-A453-366A-A5BD641EFF21}"/>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6" name="Footer Placeholder 5">
            <a:extLst>
              <a:ext uri="{FF2B5EF4-FFF2-40B4-BE49-F238E27FC236}">
                <a16:creationId xmlns:a16="http://schemas.microsoft.com/office/drawing/2014/main" id="{0057AFE0-7791-40FB-3824-2047AC9C21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510F87-0142-9512-D8DC-DC10F548E20E}"/>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2759120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6FD5-0B31-A72E-684E-38AA107F41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A1631E-1676-32FE-2048-4BCD3F926E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54644A-6579-66B0-898C-06E3B265E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51C73-78E5-A414-4A5D-8247F1450C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322C45-3B70-57B5-AB92-69C0E907E5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78F610-6855-3132-FD2C-10DA3831D3AF}"/>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8" name="Footer Placeholder 7">
            <a:extLst>
              <a:ext uri="{FF2B5EF4-FFF2-40B4-BE49-F238E27FC236}">
                <a16:creationId xmlns:a16="http://schemas.microsoft.com/office/drawing/2014/main" id="{F93734BD-CA66-6BE7-A51C-6DFF154A9C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CF3777-3E42-D783-684C-D2A5D935A818}"/>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242619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D9AF-E092-1406-DC2F-385A6952C3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FFC439-3C22-E25F-BFB8-3CD893BEED43}"/>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4" name="Footer Placeholder 3">
            <a:extLst>
              <a:ext uri="{FF2B5EF4-FFF2-40B4-BE49-F238E27FC236}">
                <a16:creationId xmlns:a16="http://schemas.microsoft.com/office/drawing/2014/main" id="{8A254944-B7AB-7055-8D04-0C9B9CC11F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7B831D-50E6-3052-2162-878088C06597}"/>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3785437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8BA28-8D0A-C32C-AE43-5A77DCDDA775}"/>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3" name="Footer Placeholder 2">
            <a:extLst>
              <a:ext uri="{FF2B5EF4-FFF2-40B4-BE49-F238E27FC236}">
                <a16:creationId xmlns:a16="http://schemas.microsoft.com/office/drawing/2014/main" id="{846CAFA6-EA9E-6D92-7819-9A28DDD6E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EB2B5B-071E-4C33-298C-335ADF637031}"/>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1636412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49B1-922C-B270-5821-5F131297C8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DE0493-908C-5257-E744-98F08D75A9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057780-2E11-A248-EC2F-3F7206E206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1E1885-86A6-517B-43B7-23B32328A8BF}"/>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6" name="Footer Placeholder 5">
            <a:extLst>
              <a:ext uri="{FF2B5EF4-FFF2-40B4-BE49-F238E27FC236}">
                <a16:creationId xmlns:a16="http://schemas.microsoft.com/office/drawing/2014/main" id="{F8315D4D-E7C0-51A3-08D5-C5021C2C7D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E106FB-A0F2-00F8-60F0-E94946107606}"/>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9921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063C3-79F4-CBA8-D982-2A64924694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2CB117-F768-62B5-BE9C-011D9429D7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663772-EF6F-F95A-5772-65990C06BC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1DA93-7E75-FE8A-874F-2D8E7ECC9546}"/>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6" name="Footer Placeholder 5">
            <a:extLst>
              <a:ext uri="{FF2B5EF4-FFF2-40B4-BE49-F238E27FC236}">
                <a16:creationId xmlns:a16="http://schemas.microsoft.com/office/drawing/2014/main" id="{AA8F58F5-CD0F-FA15-99EE-FD7B3E3985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C8DC58-E9D4-C0B2-7991-83D90FBFEC14}"/>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937313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8CA4-FBE3-BABC-D641-8EA43092C9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407CB5-B55B-EB46-9753-686CC4A337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9883B-06D7-B74B-4CD3-EF6A9E6F9CFC}"/>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5" name="Footer Placeholder 4">
            <a:extLst>
              <a:ext uri="{FF2B5EF4-FFF2-40B4-BE49-F238E27FC236}">
                <a16:creationId xmlns:a16="http://schemas.microsoft.com/office/drawing/2014/main" id="{7F6F95A4-28CC-AD91-C23B-E3DD3B268C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25498-97F5-5DCA-8AAC-44B0B9723BA3}"/>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1843143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E4FCA6-3928-F030-CA08-3BD639D6BE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38CF32-58F0-EA44-0F27-E5DB68281A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59CAC-F1A7-4C96-43F5-C24E01D5379B}"/>
              </a:ext>
            </a:extLst>
          </p:cNvPr>
          <p:cNvSpPr>
            <a:spLocks noGrp="1"/>
          </p:cNvSpPr>
          <p:nvPr>
            <p:ph type="dt" sz="half" idx="10"/>
          </p:nvPr>
        </p:nvSpPr>
        <p:spPr/>
        <p:txBody>
          <a:bodyPr/>
          <a:lstStyle/>
          <a:p>
            <a:fld id="{E18BCED5-A549-45D5-B8DB-2B1540DD91FE}" type="datetimeFigureOut">
              <a:rPr lang="en-US" smtClean="0"/>
              <a:t>01/25/2023</a:t>
            </a:fld>
            <a:endParaRPr lang="en-US"/>
          </a:p>
        </p:txBody>
      </p:sp>
      <p:sp>
        <p:nvSpPr>
          <p:cNvPr id="5" name="Footer Placeholder 4">
            <a:extLst>
              <a:ext uri="{FF2B5EF4-FFF2-40B4-BE49-F238E27FC236}">
                <a16:creationId xmlns:a16="http://schemas.microsoft.com/office/drawing/2014/main" id="{734BFECC-129A-E8A5-A07E-243187ECF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15499-40D1-7F9B-6BF2-F9D26C4E700D}"/>
              </a:ext>
            </a:extLst>
          </p:cNvPr>
          <p:cNvSpPr>
            <a:spLocks noGrp="1"/>
          </p:cNvSpPr>
          <p:nvPr>
            <p:ph type="sldNum" sz="quarter" idx="12"/>
          </p:nvPr>
        </p:nvSpPr>
        <p:spPr/>
        <p:txBody>
          <a:bodyPr/>
          <a:lstStyle/>
          <a:p>
            <a:fld id="{4F6A3E21-3A9D-4C5F-BEE1-7FB209DD2E17}" type="slidenum">
              <a:rPr lang="en-US" smtClean="0"/>
              <a:t>‹#›</a:t>
            </a:fld>
            <a:endParaRPr lang="en-US"/>
          </a:p>
        </p:txBody>
      </p:sp>
    </p:spTree>
    <p:extLst>
      <p:ext uri="{BB962C8B-B14F-4D97-AF65-F5344CB8AC3E}">
        <p14:creationId xmlns:p14="http://schemas.microsoft.com/office/powerpoint/2010/main" val="3697953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341F34-F751-0585-0C35-D8EE9A2007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62A3B9-1B4A-662A-6893-9777A7350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5B67A-A407-3D49-1407-5ABB738D23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8BCED5-A549-45D5-B8DB-2B1540DD91FE}" type="datetimeFigureOut">
              <a:rPr lang="en-US" smtClean="0"/>
              <a:t>01/25/2023</a:t>
            </a:fld>
            <a:endParaRPr lang="en-US"/>
          </a:p>
        </p:txBody>
      </p:sp>
      <p:sp>
        <p:nvSpPr>
          <p:cNvPr id="5" name="Footer Placeholder 4">
            <a:extLst>
              <a:ext uri="{FF2B5EF4-FFF2-40B4-BE49-F238E27FC236}">
                <a16:creationId xmlns:a16="http://schemas.microsoft.com/office/drawing/2014/main" id="{38455DB4-FE88-CE51-1864-1D4DEEAF4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E4814D-D17C-8A71-148D-F43C78D2CD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6A3E21-3A9D-4C5F-BEE1-7FB209DD2E17}" type="slidenum">
              <a:rPr lang="en-US" smtClean="0"/>
              <a:t>‹#›</a:t>
            </a:fld>
            <a:endParaRPr lang="en-US"/>
          </a:p>
        </p:txBody>
      </p:sp>
    </p:spTree>
    <p:extLst>
      <p:ext uri="{BB962C8B-B14F-4D97-AF65-F5344CB8AC3E}">
        <p14:creationId xmlns:p14="http://schemas.microsoft.com/office/powerpoint/2010/main" val="406043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8000">
              <a:schemeClr val="tx2">
                <a:lumMod val="20000"/>
                <a:lumOff val="80000"/>
                <a:alpha val="43000"/>
              </a:schemeClr>
            </a:gs>
            <a:gs pos="73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9FA8-46A8-E288-67A9-E87A5A0BFF30}"/>
              </a:ext>
            </a:extLst>
          </p:cNvPr>
          <p:cNvSpPr>
            <a:spLocks noGrp="1"/>
          </p:cNvSpPr>
          <p:nvPr>
            <p:ph type="ctrTitle"/>
          </p:nvPr>
        </p:nvSpPr>
        <p:spPr>
          <a:xfrm>
            <a:off x="1524000" y="2122097"/>
            <a:ext cx="9144000" cy="1387865"/>
          </a:xfrm>
        </p:spPr>
        <p:txBody>
          <a:bodyPr/>
          <a:lstStyle/>
          <a:p>
            <a:r>
              <a:rPr lang="en-US" dirty="0"/>
              <a:t>Microsoft Dynamics NAV</a:t>
            </a:r>
          </a:p>
        </p:txBody>
      </p:sp>
      <p:sp>
        <p:nvSpPr>
          <p:cNvPr id="3" name="Subtitle 2">
            <a:extLst>
              <a:ext uri="{FF2B5EF4-FFF2-40B4-BE49-F238E27FC236}">
                <a16:creationId xmlns:a16="http://schemas.microsoft.com/office/drawing/2014/main" id="{C6CFEFFB-15CA-CE69-B88B-27211D43E328}"/>
              </a:ext>
            </a:extLst>
          </p:cNvPr>
          <p:cNvSpPr>
            <a:spLocks noGrp="1"/>
          </p:cNvSpPr>
          <p:nvPr>
            <p:ph type="subTitle" idx="1"/>
          </p:nvPr>
        </p:nvSpPr>
        <p:spPr>
          <a:xfrm>
            <a:off x="1524000" y="3602038"/>
            <a:ext cx="9144000" cy="676664"/>
          </a:xfrm>
        </p:spPr>
        <p:txBody>
          <a:bodyPr/>
          <a:lstStyle/>
          <a:p>
            <a:r>
              <a:rPr lang="en-US" dirty="0"/>
              <a:t>Inventory Management System</a:t>
            </a:r>
          </a:p>
        </p:txBody>
      </p:sp>
    </p:spTree>
    <p:extLst>
      <p:ext uri="{BB962C8B-B14F-4D97-AF65-F5344CB8AC3E}">
        <p14:creationId xmlns:p14="http://schemas.microsoft.com/office/powerpoint/2010/main" val="3515762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3DD06-57C0-56EF-F9D5-360067DDA537}"/>
              </a:ext>
            </a:extLst>
          </p:cNvPr>
          <p:cNvSpPr>
            <a:spLocks noGrp="1"/>
          </p:cNvSpPr>
          <p:nvPr>
            <p:ph type="title"/>
          </p:nvPr>
        </p:nvSpPr>
        <p:spPr/>
        <p:txBody>
          <a:bodyPr/>
          <a:lstStyle/>
          <a:p>
            <a:r>
              <a:rPr lang="en-US" dirty="0"/>
              <a:t>Inventory Management Features</a:t>
            </a:r>
          </a:p>
        </p:txBody>
      </p:sp>
      <p:sp>
        <p:nvSpPr>
          <p:cNvPr id="3" name="Content Placeholder 2">
            <a:extLst>
              <a:ext uri="{FF2B5EF4-FFF2-40B4-BE49-F238E27FC236}">
                <a16:creationId xmlns:a16="http://schemas.microsoft.com/office/drawing/2014/main" id="{5F477B6B-1988-095A-C71C-290ED968AA8F}"/>
              </a:ext>
            </a:extLst>
          </p:cNvPr>
          <p:cNvSpPr>
            <a:spLocks noGrp="1"/>
          </p:cNvSpPr>
          <p:nvPr>
            <p:ph idx="1"/>
          </p:nvPr>
        </p:nvSpPr>
        <p:spPr/>
        <p:txBody>
          <a:bodyPr>
            <a:normAutofit fontScale="70000" lnSpcReduction="20000"/>
          </a:bodyPr>
          <a:lstStyle/>
          <a:p>
            <a:pPr algn="l" fontAlgn="base"/>
            <a:r>
              <a:rPr lang="en-US" b="1" i="0" dirty="0">
                <a:solidFill>
                  <a:srgbClr val="3A3A3A"/>
                </a:solidFill>
                <a:effectLst/>
                <a:latin typeface="-apple-system"/>
              </a:rPr>
              <a:t>Analysis Report</a:t>
            </a:r>
            <a:r>
              <a:rPr lang="en-US" b="0" i="0" dirty="0">
                <a:solidFill>
                  <a:srgbClr val="3A3A3A"/>
                </a:solidFill>
                <a:effectLst/>
                <a:latin typeface="-apple-system"/>
              </a:rPr>
              <a:t>s Provide company decision-makers, especially those with overall responsibility for sales, purchases, and product portfolio management, with an efficient and flexible way to get meaningful information out of the system to inform day-to-day decisions. Built on item entries, this granule provides a customizable, analytic view that enables people to add and combine analysis objects—customers, items, and vendors—according to their needs.</a:t>
            </a:r>
          </a:p>
          <a:p>
            <a:pPr algn="l" fontAlgn="base"/>
            <a:r>
              <a:rPr lang="en-US" b="0" i="0" dirty="0">
                <a:solidFill>
                  <a:srgbClr val="3A3A3A"/>
                </a:solidFill>
                <a:effectLst/>
                <a:latin typeface="-apple-system"/>
              </a:rPr>
              <a:t>With Inventory Analysis Reports,  You can:</a:t>
            </a:r>
          </a:p>
          <a:p>
            <a:pPr algn="l" fontAlgn="base">
              <a:buFont typeface="Arial" panose="020B0604020202020204" pitchFamily="34" charset="0"/>
              <a:buChar char="•"/>
            </a:pPr>
            <a:r>
              <a:rPr lang="en-US" b="0" i="0" dirty="0">
                <a:solidFill>
                  <a:srgbClr val="3A3A3A"/>
                </a:solidFill>
                <a:effectLst/>
                <a:latin typeface="-apple-system"/>
              </a:rPr>
              <a:t>Present figures in both amounts and quantities and compare by periods as well as against budget. When the figures are put in a formula, they can become an indicator of the company’s performance.</a:t>
            </a:r>
          </a:p>
          <a:p>
            <a:pPr algn="l" fontAlgn="base">
              <a:buFont typeface="Arial" panose="020B0604020202020204" pitchFamily="34" charset="0"/>
              <a:buChar char="•"/>
            </a:pPr>
            <a:r>
              <a:rPr lang="en-US" b="0" i="0" dirty="0">
                <a:solidFill>
                  <a:srgbClr val="3A3A3A"/>
                </a:solidFill>
                <a:effectLst/>
                <a:latin typeface="-apple-system"/>
              </a:rPr>
              <a:t>Drill down to locate the cause of problems.</a:t>
            </a:r>
          </a:p>
          <a:p>
            <a:pPr algn="l" fontAlgn="base">
              <a:buFont typeface="Arial" panose="020B0604020202020204" pitchFamily="34" charset="0"/>
              <a:buChar char="•"/>
            </a:pPr>
            <a:r>
              <a:rPr lang="en-US" b="0" i="0" dirty="0">
                <a:solidFill>
                  <a:srgbClr val="3A3A3A"/>
                </a:solidFill>
                <a:effectLst/>
                <a:latin typeface="-apple-system"/>
              </a:rPr>
              <a:t>View sales dynamics; analyze inventory turnover; evaluate customers’ buying behavior; spot trends; reconsider product offerings, prices, and vendors; and make informed business decisions.</a:t>
            </a:r>
          </a:p>
          <a:p>
            <a:pPr algn="l" fontAlgn="base"/>
            <a:r>
              <a:rPr lang="en-US" b="1" i="0" dirty="0">
                <a:solidFill>
                  <a:srgbClr val="3A3A3A"/>
                </a:solidFill>
                <a:effectLst/>
                <a:latin typeface="-apple-system"/>
              </a:rPr>
              <a:t>Alternative Vendors:</a:t>
            </a:r>
            <a:r>
              <a:rPr lang="en-US" b="0" i="0" dirty="0">
                <a:solidFill>
                  <a:srgbClr val="3A3A3A"/>
                </a:solidFill>
                <a:effectLst/>
                <a:latin typeface="-apple-system"/>
              </a:rPr>
              <a:t>  Manage purchase of the same item from several different vendors. Set up alternative vendors for an item, specify typical lead times used by a specific vendor to deliver that item, and associate price and discount agreements for that item with each vendor.</a:t>
            </a:r>
          </a:p>
          <a:p>
            <a:endParaRPr lang="en-US" dirty="0"/>
          </a:p>
        </p:txBody>
      </p:sp>
    </p:spTree>
    <p:extLst>
      <p:ext uri="{BB962C8B-B14F-4D97-AF65-F5344CB8AC3E}">
        <p14:creationId xmlns:p14="http://schemas.microsoft.com/office/powerpoint/2010/main" val="3956812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10E8A3-A4EE-CB87-38C8-4E254C7D182B}"/>
              </a:ext>
            </a:extLst>
          </p:cNvPr>
          <p:cNvSpPr>
            <a:spLocks noGrp="1"/>
          </p:cNvSpPr>
          <p:nvPr>
            <p:ph idx="1"/>
          </p:nvPr>
        </p:nvSpPr>
        <p:spPr>
          <a:xfrm>
            <a:off x="838200" y="690113"/>
            <a:ext cx="10515600" cy="5486850"/>
          </a:xfrm>
        </p:spPr>
        <p:txBody>
          <a:bodyPr>
            <a:normAutofit fontScale="62500" lnSpcReduction="20000"/>
          </a:bodyPr>
          <a:lstStyle/>
          <a:p>
            <a:r>
              <a:rPr lang="en-US" b="1" dirty="0"/>
              <a:t>Basic Inventory:  </a:t>
            </a:r>
            <a:r>
              <a:rPr lang="en-US" dirty="0"/>
              <a:t>Set up items that you carry in your stock and specify their unit of measures, costing method, inventory posting group, unit cost and price and other properties. Post item transactions, such as sales, purchase, negative and positive adjustments from item journals. Quantity and cost records of the posted transactions are stored in the inventory ledger that is the basis for inventory valuation and other costing calculations. Integrated with General Ledger and with the posting processes in Sales and Receivables and Purchase and Payables, this granule is required for the configuration of all other Inventory granules.</a:t>
            </a:r>
          </a:p>
          <a:p>
            <a:r>
              <a:rPr lang="en-US" b="1" dirty="0"/>
              <a:t>Bin:</a:t>
            </a:r>
            <a:r>
              <a:rPr lang="en-US" dirty="0"/>
              <a:t>  Organize your warehouse by assigning items to bins, the smallest unit in the warehouse logical structure. Bin assignment is done as the item journals or directly on the document lines (does not apply to order lines).</a:t>
            </a:r>
          </a:p>
          <a:p>
            <a:r>
              <a:rPr lang="en-US" b="1" dirty="0"/>
              <a:t>Item Budgets:  </a:t>
            </a:r>
            <a:r>
              <a:rPr lang="en-US" dirty="0"/>
              <a:t>Make sales and purchase budgets on the customer, vendor, and item levels, and in both amounts and quantities. Prepare and record a sales budget that can serve as input to decision makers in other operational areas, such as purchasing and logistics. Decision-makers gain information about future expected demand they can use for business discussions with the customers. After budgets are made, track the actual sales performance by means of calculating the variance. The ability to move budgeted figures between the system and Excel provides additional flexibility to the budgeting process.</a:t>
            </a:r>
          </a:p>
          <a:p>
            <a:r>
              <a:rPr lang="en-US" b="1" dirty="0"/>
              <a:t>Item Charges:  </a:t>
            </a:r>
            <a:r>
              <a:rPr lang="en-US" dirty="0"/>
              <a:t>Manage item charges. Include the value of additional cost components such as freight or insurance into the unit cost or unit price of an item.</a:t>
            </a:r>
          </a:p>
          <a:p>
            <a:r>
              <a:rPr lang="en-US" b="1" dirty="0"/>
              <a:t>Item Cross References:  </a:t>
            </a:r>
            <a:r>
              <a:rPr lang="en-US" dirty="0"/>
              <a:t>Quickly and precisely identify the items a customer is ordering on the basis of item numbers other than your own. Cross-reference information from customers, vendors, and manufacturers, as well as generic numbers, universal product codes (UPCs), and European article numbers (EANs) that can be stored and easily accessed.</a:t>
            </a:r>
          </a:p>
          <a:p>
            <a:r>
              <a:rPr lang="en-US" b="1" dirty="0"/>
              <a:t>Item Substitutions:  </a:t>
            </a:r>
            <a:r>
              <a:rPr lang="en-US" dirty="0"/>
              <a:t>Link items with the same or similar characteristics so that if a customer orders an item that is unavailable, you can offer substitute items and avoid losing the sale. Or, provide an extra service to your customer by offering lower-cost alternatives.</a:t>
            </a:r>
          </a:p>
          <a:p>
            <a:endParaRPr lang="en-US" dirty="0"/>
          </a:p>
        </p:txBody>
      </p:sp>
    </p:spTree>
    <p:extLst>
      <p:ext uri="{BB962C8B-B14F-4D97-AF65-F5344CB8AC3E}">
        <p14:creationId xmlns:p14="http://schemas.microsoft.com/office/powerpoint/2010/main" val="3466934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34F353-C2A8-2309-5DBB-14FCA8F34783}"/>
              </a:ext>
            </a:extLst>
          </p:cNvPr>
          <p:cNvSpPr>
            <a:spLocks noGrp="1"/>
          </p:cNvSpPr>
          <p:nvPr>
            <p:ph idx="1"/>
          </p:nvPr>
        </p:nvSpPr>
        <p:spPr>
          <a:xfrm>
            <a:off x="838200" y="526211"/>
            <a:ext cx="10515600" cy="5434642"/>
          </a:xfrm>
        </p:spPr>
        <p:txBody>
          <a:bodyPr/>
          <a:lstStyle/>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Item Tracking</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Manage and track serial and lot numbers. Assign serial or lot numbers manually or automatically, and receive and ship multiple quantities with serial/lot numbers from a single order line entry.</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Assembly Management:</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Specify a list of sellable items, raw materials, sub-assemblies and/or resources as Assembly Bill of Materials that comprises a finished item or a kit. Use assembly orders to replenish assembly items to stock or capture the customer ’s special requirements to the kit’s bill of materials directly from the sales quote, blanket and order line in the assembly-to-order processes.</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Location Transfers:</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Track inventory as it is moved from one location to another and account for the value of inventory in transit and at various locations.</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Multiple Locations:</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Manage inventory in multiple locations that may represent a production plant, distribution centers, warehouses, show rooms, retail outlets and service cars.</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Non Stock Items:</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Offer items to customers that are not part of your regular inventory but that you can order from the vendor or manufacturer on an one-off basis. Such items are registered as nonstock items but otherwise are treated like any other item.</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Pick:</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Enable warehouse workers to create a pick from the released order. Pick is managed from a separate user interface when shipping items in an order-by-order environment.</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3A3A3A"/>
                </a:solidFill>
                <a:effectLst/>
                <a:uLnTx/>
                <a:uFillTx/>
                <a:latin typeface="-apple-system"/>
                <a:ea typeface="+mn-ea"/>
                <a:cs typeface="+mn-cs"/>
              </a:rPr>
              <a:t>Stock-Keeping Units: </a:t>
            </a:r>
            <a:r>
              <a:rPr kumimoji="0" lang="en-US" sz="1800" b="0" i="0" u="none" strike="noStrike" kern="1200" cap="none" spc="0" normalizeH="0" baseline="0" noProof="0" dirty="0">
                <a:ln>
                  <a:noFill/>
                </a:ln>
                <a:solidFill>
                  <a:srgbClr val="3A3A3A"/>
                </a:solidFill>
                <a:effectLst/>
                <a:uLnTx/>
                <a:uFillTx/>
                <a:latin typeface="-apple-system"/>
                <a:ea typeface="+mn-ea"/>
                <a:cs typeface="+mn-cs"/>
              </a:rPr>
              <a:t> Manage stock-keeping units (SKUs). Identical items with the same item number can be stored in different locations and managed individually at each location. Add cost prices, replenishment, manufacturing information, and so on, based on the location.</a:t>
            </a:r>
          </a:p>
          <a:p>
            <a:endParaRPr lang="en-US" dirty="0"/>
          </a:p>
        </p:txBody>
      </p:sp>
    </p:spTree>
    <p:extLst>
      <p:ext uri="{BB962C8B-B14F-4D97-AF65-F5344CB8AC3E}">
        <p14:creationId xmlns:p14="http://schemas.microsoft.com/office/powerpoint/2010/main" val="2092533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6AB0A-DA19-9C5D-E4FD-2FCDC39A664B}"/>
              </a:ext>
            </a:extLst>
          </p:cNvPr>
          <p:cNvSpPr>
            <a:spLocks noGrp="1"/>
          </p:cNvSpPr>
          <p:nvPr>
            <p:ph type="title"/>
          </p:nvPr>
        </p:nvSpPr>
        <p:spPr/>
        <p:txBody>
          <a:bodyPr/>
          <a:lstStyle/>
          <a:p>
            <a:r>
              <a:rPr lang="en-US" dirty="0"/>
              <a:t>FINANCIAL PROPOSAL</a:t>
            </a:r>
          </a:p>
        </p:txBody>
      </p:sp>
      <p:graphicFrame>
        <p:nvGraphicFramePr>
          <p:cNvPr id="4" name="Table 4">
            <a:extLst>
              <a:ext uri="{FF2B5EF4-FFF2-40B4-BE49-F238E27FC236}">
                <a16:creationId xmlns:a16="http://schemas.microsoft.com/office/drawing/2014/main" id="{96624922-3289-BB3F-9B12-70C9C0BF9256}"/>
              </a:ext>
            </a:extLst>
          </p:cNvPr>
          <p:cNvGraphicFramePr>
            <a:graphicFrameLocks noGrp="1"/>
          </p:cNvGraphicFramePr>
          <p:nvPr>
            <p:ph idx="1"/>
            <p:extLst>
              <p:ext uri="{D42A27DB-BD31-4B8C-83A1-F6EECF244321}">
                <p14:modId xmlns:p14="http://schemas.microsoft.com/office/powerpoint/2010/main" val="161480707"/>
              </p:ext>
            </p:extLst>
          </p:nvPr>
        </p:nvGraphicFramePr>
        <p:xfrm>
          <a:off x="838198" y="1825625"/>
          <a:ext cx="8461078" cy="3931920"/>
        </p:xfrm>
        <a:graphic>
          <a:graphicData uri="http://schemas.openxmlformats.org/drawingml/2006/table">
            <a:tbl>
              <a:tblPr firstRow="1" bandRow="1">
                <a:tableStyleId>{5C22544A-7EE6-4342-B048-85BDC9FD1C3A}</a:tableStyleId>
              </a:tblPr>
              <a:tblGrid>
                <a:gridCol w="2820359">
                  <a:extLst>
                    <a:ext uri="{9D8B030D-6E8A-4147-A177-3AD203B41FA5}">
                      <a16:colId xmlns:a16="http://schemas.microsoft.com/office/drawing/2014/main" val="4035755015"/>
                    </a:ext>
                  </a:extLst>
                </a:gridCol>
                <a:gridCol w="1410180">
                  <a:extLst>
                    <a:ext uri="{9D8B030D-6E8A-4147-A177-3AD203B41FA5}">
                      <a16:colId xmlns:a16="http://schemas.microsoft.com/office/drawing/2014/main" val="3157644387"/>
                    </a:ext>
                  </a:extLst>
                </a:gridCol>
                <a:gridCol w="1410180">
                  <a:extLst>
                    <a:ext uri="{9D8B030D-6E8A-4147-A177-3AD203B41FA5}">
                      <a16:colId xmlns:a16="http://schemas.microsoft.com/office/drawing/2014/main" val="2273136962"/>
                    </a:ext>
                  </a:extLst>
                </a:gridCol>
                <a:gridCol w="2820359">
                  <a:extLst>
                    <a:ext uri="{9D8B030D-6E8A-4147-A177-3AD203B41FA5}">
                      <a16:colId xmlns:a16="http://schemas.microsoft.com/office/drawing/2014/main" val="4265508793"/>
                    </a:ext>
                  </a:extLst>
                </a:gridCol>
              </a:tblGrid>
              <a:tr h="351772">
                <a:tc>
                  <a:txBody>
                    <a:bodyPr/>
                    <a:lstStyle/>
                    <a:p>
                      <a:r>
                        <a:rPr lang="en-US" dirty="0"/>
                        <a:t>ITEM</a:t>
                      </a:r>
                    </a:p>
                  </a:txBody>
                  <a:tcPr/>
                </a:tc>
                <a:tc>
                  <a:txBody>
                    <a:bodyPr/>
                    <a:lstStyle/>
                    <a:p>
                      <a:r>
                        <a:rPr lang="en-US" dirty="0"/>
                        <a:t>QTY</a:t>
                      </a:r>
                    </a:p>
                  </a:txBody>
                  <a:tcPr/>
                </a:tc>
                <a:tc>
                  <a:txBody>
                    <a:bodyPr/>
                    <a:lstStyle/>
                    <a:p>
                      <a:r>
                        <a:rPr lang="en-US" dirty="0"/>
                        <a:t>Unit price</a:t>
                      </a:r>
                    </a:p>
                  </a:txBody>
                  <a:tcPr/>
                </a:tc>
                <a:tc>
                  <a:txBody>
                    <a:bodyPr/>
                    <a:lstStyle/>
                    <a:p>
                      <a:r>
                        <a:rPr lang="en-US" dirty="0"/>
                        <a:t>PRICE</a:t>
                      </a:r>
                    </a:p>
                  </a:txBody>
                  <a:tcPr/>
                </a:tc>
                <a:extLst>
                  <a:ext uri="{0D108BD9-81ED-4DB2-BD59-A6C34878D82A}">
                    <a16:rowId xmlns:a16="http://schemas.microsoft.com/office/drawing/2014/main" val="4016725454"/>
                  </a:ext>
                </a:extLst>
              </a:tr>
              <a:tr h="1670915">
                <a:tc>
                  <a:txBody>
                    <a:bodyPr/>
                    <a:lstStyle/>
                    <a:p>
                      <a:r>
                        <a:rPr lang="en-US" dirty="0"/>
                        <a:t>Professional fees</a:t>
                      </a:r>
                    </a:p>
                    <a:p>
                      <a:pPr marL="285750" indent="-285750">
                        <a:buFont typeface="Arial" panose="020B0604020202020204" pitchFamily="34" charset="0"/>
                        <a:buChar char="•"/>
                      </a:pPr>
                      <a:r>
                        <a:rPr lang="en-US" dirty="0"/>
                        <a:t>Inventory setup</a:t>
                      </a:r>
                    </a:p>
                    <a:p>
                      <a:pPr marL="285750" indent="-285750">
                        <a:buFont typeface="Arial" panose="020B0604020202020204" pitchFamily="34" charset="0"/>
                        <a:buChar char="•"/>
                      </a:pPr>
                      <a:r>
                        <a:rPr lang="en-US" dirty="0"/>
                        <a:t>Training</a:t>
                      </a:r>
                    </a:p>
                    <a:p>
                      <a:pPr marL="285750" indent="-285750">
                        <a:buFont typeface="Arial" panose="020B0604020202020204" pitchFamily="34" charset="0"/>
                        <a:buChar char="•"/>
                      </a:pPr>
                      <a:r>
                        <a:rPr lang="en-US" dirty="0"/>
                        <a:t>UAT</a:t>
                      </a:r>
                    </a:p>
                    <a:p>
                      <a:pPr marL="285750" indent="-285750">
                        <a:buFont typeface="Arial" panose="020B0604020202020204" pitchFamily="34" charset="0"/>
                        <a:buChar char="•"/>
                      </a:pPr>
                      <a:endParaRPr lang="en-US" dirty="0"/>
                    </a:p>
                    <a:p>
                      <a:endParaRPr lang="en-US" dirty="0"/>
                    </a:p>
                  </a:txBody>
                  <a:tcPr/>
                </a:tc>
                <a:tc>
                  <a:txBody>
                    <a:bodyPr/>
                    <a:lstStyle/>
                    <a:p>
                      <a:endParaRPr lang="en-US" dirty="0"/>
                    </a:p>
                    <a:p>
                      <a:endParaRPr lang="en-US" dirty="0"/>
                    </a:p>
                  </a:txBody>
                  <a:tcPr/>
                </a:tc>
                <a:tc>
                  <a:txBody>
                    <a:bodyPr/>
                    <a:lstStyle/>
                    <a:p>
                      <a:endParaRPr lang="en-US" dirty="0"/>
                    </a:p>
                    <a:p>
                      <a:pPr algn="r"/>
                      <a:r>
                        <a:rPr lang="en-US" dirty="0"/>
                        <a:t>1,200,000.00</a:t>
                      </a:r>
                    </a:p>
                    <a:p>
                      <a:pPr algn="r"/>
                      <a:r>
                        <a:rPr lang="en-US" dirty="0"/>
                        <a:t>1,000,000.00</a:t>
                      </a:r>
                    </a:p>
                    <a:p>
                      <a:pPr algn="r"/>
                      <a:r>
                        <a:rPr lang="en-US" dirty="0"/>
                        <a:t>800,000.00</a:t>
                      </a:r>
                    </a:p>
                  </a:txBody>
                  <a:tcPr/>
                </a:tc>
                <a:tc>
                  <a:txBody>
                    <a:bodyPr/>
                    <a:lstStyle/>
                    <a:p>
                      <a:endParaRPr lang="en-US" dirty="0"/>
                    </a:p>
                    <a:p>
                      <a:pPr algn="r"/>
                      <a:r>
                        <a:rPr lang="en-US" dirty="0"/>
                        <a:t>1,200,000.00</a:t>
                      </a:r>
                    </a:p>
                    <a:p>
                      <a:pPr algn="r"/>
                      <a:r>
                        <a:rPr lang="en-US" dirty="0"/>
                        <a:t>1,000,000.00</a:t>
                      </a:r>
                    </a:p>
                    <a:p>
                      <a:pPr algn="r"/>
                      <a:r>
                        <a:rPr lang="en-US" dirty="0"/>
                        <a:t>800,000.00</a:t>
                      </a:r>
                    </a:p>
                  </a:txBody>
                  <a:tcPr/>
                </a:tc>
                <a:extLst>
                  <a:ext uri="{0D108BD9-81ED-4DB2-BD59-A6C34878D82A}">
                    <a16:rowId xmlns:a16="http://schemas.microsoft.com/office/drawing/2014/main" val="1422901507"/>
                  </a:ext>
                </a:extLst>
              </a:tr>
              <a:tr h="351772">
                <a:tc>
                  <a:txBody>
                    <a:bodyPr/>
                    <a:lstStyle/>
                    <a:p>
                      <a:r>
                        <a:rPr lang="en-US" dirty="0"/>
                        <a:t>User license</a:t>
                      </a:r>
                    </a:p>
                  </a:txBody>
                  <a:tcPr/>
                </a:tc>
                <a:tc>
                  <a:txBody>
                    <a:bodyPr/>
                    <a:lstStyle/>
                    <a:p>
                      <a:r>
                        <a:rPr lang="en-US" dirty="0"/>
                        <a:t>5</a:t>
                      </a:r>
                    </a:p>
                  </a:txBody>
                  <a:tcPr/>
                </a:tc>
                <a:tc>
                  <a:txBody>
                    <a:bodyPr/>
                    <a:lstStyle/>
                    <a:p>
                      <a:pPr algn="r"/>
                      <a:r>
                        <a:rPr lang="en-US" dirty="0"/>
                        <a:t>200,0000.00</a:t>
                      </a:r>
                    </a:p>
                  </a:txBody>
                  <a:tcPr/>
                </a:tc>
                <a:tc>
                  <a:txBody>
                    <a:bodyPr/>
                    <a:lstStyle/>
                    <a:p>
                      <a:pPr algn="r"/>
                      <a:r>
                        <a:rPr lang="en-US" dirty="0"/>
                        <a:t>1,000,000.00</a:t>
                      </a:r>
                    </a:p>
                  </a:txBody>
                  <a:tcPr/>
                </a:tc>
                <a:extLst>
                  <a:ext uri="{0D108BD9-81ED-4DB2-BD59-A6C34878D82A}">
                    <a16:rowId xmlns:a16="http://schemas.microsoft.com/office/drawing/2014/main" val="2673528841"/>
                  </a:ext>
                </a:extLst>
              </a:tr>
              <a:tr h="351772">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167229553"/>
                  </a:ext>
                </a:extLst>
              </a:tr>
              <a:tr h="351772">
                <a:tc>
                  <a:txBody>
                    <a:bodyPr/>
                    <a:lstStyle/>
                    <a:p>
                      <a:r>
                        <a:rPr lang="en-US" dirty="0"/>
                        <a:t>Sub Total</a:t>
                      </a:r>
                    </a:p>
                  </a:txBody>
                  <a:tcPr/>
                </a:tc>
                <a:tc>
                  <a:txBody>
                    <a:bodyPr/>
                    <a:lstStyle/>
                    <a:p>
                      <a:endParaRPr lang="en-US" dirty="0"/>
                    </a:p>
                  </a:txBody>
                  <a:tcPr/>
                </a:tc>
                <a:tc>
                  <a:txBody>
                    <a:bodyPr/>
                    <a:lstStyle/>
                    <a:p>
                      <a:endParaRPr lang="en-US" dirty="0"/>
                    </a:p>
                  </a:txBody>
                  <a:tcPr/>
                </a:tc>
                <a:tc>
                  <a:txBody>
                    <a:bodyPr/>
                    <a:lstStyle/>
                    <a:p>
                      <a:pPr algn="r"/>
                      <a:r>
                        <a:rPr lang="en-US" dirty="0"/>
                        <a:t>4,000,000.00</a:t>
                      </a:r>
                    </a:p>
                  </a:txBody>
                  <a:tcPr/>
                </a:tc>
                <a:extLst>
                  <a:ext uri="{0D108BD9-81ED-4DB2-BD59-A6C34878D82A}">
                    <a16:rowId xmlns:a16="http://schemas.microsoft.com/office/drawing/2014/main" val="2153281695"/>
                  </a:ext>
                </a:extLst>
              </a:tr>
              <a:tr h="351772">
                <a:tc>
                  <a:txBody>
                    <a:bodyPr/>
                    <a:lstStyle/>
                    <a:p>
                      <a:r>
                        <a:rPr lang="en-US" dirty="0"/>
                        <a:t>VAT</a:t>
                      </a:r>
                    </a:p>
                  </a:txBody>
                  <a:tcPr/>
                </a:tc>
                <a:tc>
                  <a:txBody>
                    <a:bodyPr/>
                    <a:lstStyle/>
                    <a:p>
                      <a:endParaRPr lang="en-US" dirty="0"/>
                    </a:p>
                  </a:txBody>
                  <a:tcPr/>
                </a:tc>
                <a:tc>
                  <a:txBody>
                    <a:bodyPr/>
                    <a:lstStyle/>
                    <a:p>
                      <a:endParaRPr lang="en-US" dirty="0"/>
                    </a:p>
                  </a:txBody>
                  <a:tcPr/>
                </a:tc>
                <a:tc>
                  <a:txBody>
                    <a:bodyPr/>
                    <a:lstStyle/>
                    <a:p>
                      <a:pPr algn="r"/>
                      <a:r>
                        <a:rPr lang="en-US" dirty="0"/>
                        <a:t> 640,000.00 </a:t>
                      </a:r>
                    </a:p>
                  </a:txBody>
                  <a:tcPr/>
                </a:tc>
                <a:extLst>
                  <a:ext uri="{0D108BD9-81ED-4DB2-BD59-A6C34878D82A}">
                    <a16:rowId xmlns:a16="http://schemas.microsoft.com/office/drawing/2014/main" val="3162455428"/>
                  </a:ext>
                </a:extLst>
              </a:tr>
              <a:tr h="351772">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pPr algn="r"/>
                      <a:r>
                        <a:rPr lang="en-US" dirty="0"/>
                        <a:t>4,640,000.00</a:t>
                      </a:r>
                    </a:p>
                  </a:txBody>
                  <a:tcPr/>
                </a:tc>
                <a:extLst>
                  <a:ext uri="{0D108BD9-81ED-4DB2-BD59-A6C34878D82A}">
                    <a16:rowId xmlns:a16="http://schemas.microsoft.com/office/drawing/2014/main" val="2721303726"/>
                  </a:ext>
                </a:extLst>
              </a:tr>
            </a:tbl>
          </a:graphicData>
        </a:graphic>
      </p:graphicFrame>
    </p:spTree>
    <p:extLst>
      <p:ext uri="{BB962C8B-B14F-4D97-AF65-F5344CB8AC3E}">
        <p14:creationId xmlns:p14="http://schemas.microsoft.com/office/powerpoint/2010/main" val="1447420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932</Words>
  <Application>Microsoft Office PowerPoint</Application>
  <PresentationFormat>Widescreen</PresentationFormat>
  <Paragraphs>49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-apple-system</vt:lpstr>
      <vt:lpstr>Arial</vt:lpstr>
      <vt:lpstr>Calibri</vt:lpstr>
      <vt:lpstr>Calibri Light</vt:lpstr>
      <vt:lpstr>Office Theme</vt:lpstr>
      <vt:lpstr>Microsoft Dynamics NAV</vt:lpstr>
      <vt:lpstr>Inventory Management Features</vt:lpstr>
      <vt:lpstr>PowerPoint Presentation</vt:lpstr>
      <vt:lpstr>PowerPoint Presentation</vt:lpstr>
      <vt:lpstr>FINANCIAL PROPOSAL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Dynamics NAV</dc:title>
  <dc:creator>Paul Njoroge</dc:creator>
  <cp:lastModifiedBy>Paul Njoroge</cp:lastModifiedBy>
  <cp:revision>1</cp:revision>
  <dcterms:created xsi:type="dcterms:W3CDTF">2023-01-25T09:22:31Z</dcterms:created>
  <dcterms:modified xsi:type="dcterms:W3CDTF">2023-01-25T09:22:59Z</dcterms:modified>
</cp:coreProperties>
</file>