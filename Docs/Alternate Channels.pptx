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345" r:id="rId5"/>
    <p:sldId id="519" r:id="rId6"/>
    <p:sldId id="520" r:id="rId7"/>
    <p:sldId id="442" r:id="rId8"/>
    <p:sldId id="524" r:id="rId9"/>
    <p:sldId id="525" r:id="rId10"/>
    <p:sldId id="526" r:id="rId11"/>
    <p:sldId id="522" r:id="rId12"/>
    <p:sldId id="423" r:id="rId13"/>
    <p:sldId id="516" r:id="rId14"/>
    <p:sldId id="515" r:id="rId15"/>
    <p:sldId id="517" r:id="rId16"/>
    <p:sldId id="518" r:id="rId17"/>
    <p:sldId id="523" r:id="rId18"/>
    <p:sldId id="304" r:id="rId19"/>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ommatim"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808000"/>
    <a:srgbClr val="660066"/>
    <a:srgbClr val="996600"/>
    <a:srgbClr val="990099"/>
    <a:srgbClr val="660033"/>
    <a:srgbClr val="666699"/>
    <a:srgbClr val="0066CC"/>
    <a:srgbClr val="009900"/>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02" autoAdjust="0"/>
    <p:restoredTop sz="88875" autoAdjust="0"/>
  </p:normalViewPr>
  <p:slideViewPr>
    <p:cSldViewPr showGuides="1">
      <p:cViewPr varScale="1">
        <p:scale>
          <a:sx n="98" d="100"/>
          <a:sy n="98" d="100"/>
        </p:scale>
        <p:origin x="2046" y="90"/>
      </p:cViewPr>
      <p:guideLst>
        <p:guide orient="horz"/>
        <p:guide/>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55" d="100"/>
          <a:sy n="55" d="100"/>
        </p:scale>
        <p:origin x="-2802"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671"/>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3849862" y="0"/>
            <a:ext cx="2946275" cy="496671"/>
          </a:xfrm>
          <a:prstGeom prst="rect">
            <a:avLst/>
          </a:prstGeom>
        </p:spPr>
        <p:txBody>
          <a:bodyPr vert="horz" wrap="square" lIns="93177" tIns="46589" rIns="93177" bIns="46589" numCol="1" anchor="t" anchorCtr="0" compatLnSpc="1">
            <a:prstTxWarp prst="textNoShape">
              <a:avLst/>
            </a:prstTxWarp>
          </a:bodyPr>
          <a:lstStyle>
            <a:lvl1pPr algn="r">
              <a:defRPr sz="1200">
                <a:latin typeface="Cambria" pitchFamily="18" charset="0"/>
              </a:defRPr>
            </a:lvl1pPr>
          </a:lstStyle>
          <a:p>
            <a:pPr>
              <a:defRPr/>
            </a:pPr>
            <a:fld id="{738C2361-B388-49DF-8924-1AC990E56F84}" type="datetime1">
              <a:rPr lang="en-US"/>
              <a:pPr>
                <a:defRPr/>
              </a:pPr>
              <a:t>08/31/2024</a:t>
            </a:fld>
            <a:endParaRPr lang="en-US" dirty="0"/>
          </a:p>
        </p:txBody>
      </p:sp>
      <p:sp>
        <p:nvSpPr>
          <p:cNvPr id="4" name="Footer Placeholder 3"/>
          <p:cNvSpPr>
            <a:spLocks noGrp="1"/>
          </p:cNvSpPr>
          <p:nvPr>
            <p:ph type="ftr" sz="quarter" idx="2"/>
          </p:nvPr>
        </p:nvSpPr>
        <p:spPr>
          <a:xfrm>
            <a:off x="0" y="9428272"/>
            <a:ext cx="2946275" cy="4966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849862" y="9428272"/>
            <a:ext cx="2946275" cy="496671"/>
          </a:xfrm>
          <a:prstGeom prst="rect">
            <a:avLst/>
          </a:prstGeom>
        </p:spPr>
        <p:txBody>
          <a:bodyPr vert="horz" wrap="square" lIns="93177" tIns="46589" rIns="93177" bIns="46589" numCol="1" anchor="b" anchorCtr="0" compatLnSpc="1">
            <a:prstTxWarp prst="textNoShape">
              <a:avLst/>
            </a:prstTxWarp>
          </a:bodyPr>
          <a:lstStyle>
            <a:lvl1pPr algn="r">
              <a:defRPr sz="1200">
                <a:latin typeface="Cambria" pitchFamily="18" charset="0"/>
              </a:defRPr>
            </a:lvl1pPr>
          </a:lstStyle>
          <a:p>
            <a:pPr>
              <a:defRPr/>
            </a:pPr>
            <a:fld id="{76F39B46-A72B-4AE2-98E0-C43F765A6C65}" type="slidenum">
              <a:rPr lang="en-US"/>
              <a:pPr>
                <a:defRPr/>
              </a:pPr>
              <a:t>‹#›</a:t>
            </a:fld>
            <a:endParaRPr lang="en-US" dirty="0"/>
          </a:p>
        </p:txBody>
      </p:sp>
    </p:spTree>
    <p:extLst>
      <p:ext uri="{BB962C8B-B14F-4D97-AF65-F5344CB8AC3E}">
        <p14:creationId xmlns:p14="http://schemas.microsoft.com/office/powerpoint/2010/main" val="25283042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671"/>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49862" y="0"/>
            <a:ext cx="2946275" cy="496671"/>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pPr>
              <a:defRPr/>
            </a:pPr>
            <a:fld id="{E74724CD-A5BC-4FFD-A3AD-C61EDDD7CF55}" type="datetime1">
              <a:rPr lang="en-US"/>
              <a:pPr>
                <a:defRPr/>
              </a:pPr>
              <a:t>08/31/2024</a:t>
            </a:fld>
            <a:endParaRPr lang="en-US"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680383" y="4715831"/>
            <a:ext cx="5436909" cy="4466649"/>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272"/>
            <a:ext cx="2946275" cy="4966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49862" y="9428272"/>
            <a:ext cx="2946275" cy="496671"/>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pPr>
              <a:defRPr/>
            </a:pPr>
            <a:fld id="{ED0EDFC4-E217-430D-8F20-4A2866AA50EC}" type="slidenum">
              <a:rPr lang="en-US"/>
              <a:pPr>
                <a:defRPr/>
              </a:pPr>
              <a:t>‹#›</a:t>
            </a:fld>
            <a:endParaRPr lang="en-US" dirty="0"/>
          </a:p>
        </p:txBody>
      </p:sp>
    </p:spTree>
    <p:extLst>
      <p:ext uri="{BB962C8B-B14F-4D97-AF65-F5344CB8AC3E}">
        <p14:creationId xmlns:p14="http://schemas.microsoft.com/office/powerpoint/2010/main" val="2192308239"/>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8"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a:defRPr/>
            </a:pPr>
            <a:endParaRPr lang="en-US" dirty="0"/>
          </a:p>
        </p:txBody>
      </p:sp>
      <p:sp>
        <p:nvSpPr>
          <p:cNvPr id="5" name="Slide Number Placeholder 4"/>
          <p:cNvSpPr>
            <a:spLocks noGrp="1"/>
          </p:cNvSpPr>
          <p:nvPr>
            <p:ph type="sldNum" sz="quarter" idx="11"/>
          </p:nvPr>
        </p:nvSpPr>
        <p:spPr/>
        <p:txBody>
          <a:bodyPr/>
          <a:lstStyle/>
          <a:p>
            <a:pPr>
              <a:defRPr/>
            </a:pPr>
            <a:fld id="{ED0EDFC4-E217-430D-8F20-4A2866AA50EC}" type="slidenum">
              <a:rPr lang="en-US" smtClean="0"/>
              <a:pPr>
                <a:defRPr/>
              </a:pPr>
              <a:t>1</a:t>
            </a:fld>
            <a:endParaRPr lang="en-US" dirty="0"/>
          </a:p>
        </p:txBody>
      </p:sp>
    </p:spTree>
    <p:extLst>
      <p:ext uri="{BB962C8B-B14F-4D97-AF65-F5344CB8AC3E}">
        <p14:creationId xmlns:p14="http://schemas.microsoft.com/office/powerpoint/2010/main" val="371935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9" name="Subtitle 2"/>
          <p:cNvSpPr>
            <a:spLocks noGrp="1"/>
          </p:cNvSpPr>
          <p:nvPr>
            <p:ph type="subTitle" idx="1"/>
          </p:nvPr>
        </p:nvSpPr>
        <p:spPr>
          <a:xfrm>
            <a:off x="1371600" y="3886200"/>
            <a:ext cx="6400800" cy="4572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5844490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58200" y="6477000"/>
            <a:ext cx="2159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D:\Lavanya\Lavanya-Work\Collaterals\Presentations\New-PPT-082211\header.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533400" y="-83127"/>
            <a:ext cx="8534400" cy="692727"/>
          </a:xfrm>
        </p:spPr>
        <p:txBody>
          <a:bodyPr>
            <a:normAutofit/>
          </a:bodyPr>
          <a:lstStyle>
            <a:lvl1pPr algn="l">
              <a:defRPr lang="en-US" sz="2400" b="1" kern="1200" dirty="0" smtClean="0">
                <a:solidFill>
                  <a:schemeClr val="bg1"/>
                </a:solidFill>
                <a:latin typeface="Malgun Gothic" pitchFamily="34" charset="-127"/>
                <a:ea typeface="Malgun Gothic" pitchFamily="34" charset="-127"/>
                <a:cs typeface="ＭＳ Ｐゴシック" charset="0"/>
              </a:defRPr>
            </a:lvl1pPr>
          </a:lstStyle>
          <a:p>
            <a:r>
              <a:rPr lang="en-US" dirty="0"/>
              <a:t>Click to edit Master title style</a:t>
            </a:r>
          </a:p>
        </p:txBody>
      </p:sp>
      <p:sp>
        <p:nvSpPr>
          <p:cNvPr id="11" name="Content Placeholder 2"/>
          <p:cNvSpPr>
            <a:spLocks noGrp="1"/>
          </p:cNvSpPr>
          <p:nvPr>
            <p:ph idx="1"/>
          </p:nvPr>
        </p:nvSpPr>
        <p:spPr>
          <a:xfrm>
            <a:off x="76200" y="731837"/>
            <a:ext cx="8229600" cy="4525963"/>
          </a:xfrm>
          <a:ln>
            <a:noFill/>
          </a:ln>
        </p:spPr>
        <p:txBody>
          <a:bodyPr/>
          <a:lstStyle>
            <a:lvl1pPr marL="342900" indent="-342900">
              <a:lnSpc>
                <a:spcPct val="100000"/>
              </a:lnSpc>
              <a:spcBef>
                <a:spcPts val="1400"/>
              </a:spcBef>
              <a:buFont typeface="Wingdings" pitchFamily="2" charset="2"/>
              <a:buChar char="§"/>
              <a:defRPr/>
            </a:lvl1pPr>
            <a:lvl2pPr marL="742950" indent="-285750">
              <a:lnSpc>
                <a:spcPct val="150000"/>
              </a:lnSpc>
              <a:buSzPct val="80000"/>
              <a:buFont typeface="Wingdings" pitchFamily="2" charset="2"/>
              <a:buChar char="§"/>
              <a:defRPr>
                <a:latin typeface="Malgun Gothic" pitchFamily="34" charset="-127"/>
                <a:ea typeface="Malgun Gothic" pitchFamily="34" charset="-127"/>
              </a:defRPr>
            </a:lvl2pPr>
            <a:lvl3pPr marL="1143000" indent="-228600">
              <a:buSzPct val="60000"/>
              <a:buFont typeface="Wingdings" pitchFamily="2" charset="2"/>
              <a:buChar char="§"/>
              <a:defRPr>
                <a:latin typeface="Malgun Gothic" pitchFamily="34" charset="-127"/>
                <a:ea typeface="Malgun Gothic" pitchFamily="34" charset="-127"/>
              </a:defRPr>
            </a:lvl3pPr>
            <a:lvl4pPr marL="1600200" indent="-228600">
              <a:buFont typeface="Arial" pitchFamily="34" charset="0"/>
              <a:buChar char="•"/>
              <a:defRPr>
                <a:latin typeface="Malgun Gothic" pitchFamily="34" charset="-127"/>
                <a:ea typeface="Malgun Gothic" pitchFamily="34" charset="-127"/>
              </a:defRPr>
            </a:lvl4pPr>
            <a:lvl5pPr marL="2057400" indent="-228600">
              <a:buSzPct val="80000"/>
              <a:buFont typeface="Arial" pitchFamily="34" charset="0"/>
              <a:buChar char="•"/>
              <a:defRPr>
                <a:latin typeface="Malgun Gothic" pitchFamily="34" charset="-127"/>
                <a:ea typeface="Malgun Gothic" pitchFamily="34" charset="-127"/>
              </a:defRPr>
            </a:lvl5pPr>
          </a:lstStyle>
          <a:p>
            <a:pPr lvl="0"/>
            <a:r>
              <a:rPr lang="en-US" dirty="0"/>
              <a:t>Click to edit Master text styles</a:t>
            </a:r>
          </a:p>
          <a:p>
            <a:pPr lvl="1"/>
            <a:r>
              <a:rPr lang="en-US" dirty="0"/>
              <a:t>Second levelfffffffffffffffffffffffffffffffffffffffffffffffffffffffffffffffffffffffffffffffffffffffffffffffffffffffffffffffff</a:t>
            </a:r>
          </a:p>
          <a:p>
            <a:pPr lvl="1"/>
            <a:r>
              <a:rPr lang="en-US" dirty="0" err="1"/>
              <a:t>sfssfsf</a:t>
            </a:r>
            <a:endParaRPr lang="en-US" dirty="0"/>
          </a:p>
          <a:p>
            <a:pPr lvl="2"/>
            <a:r>
              <a:rPr lang="en-US" dirty="0"/>
              <a:t>Third level</a:t>
            </a:r>
          </a:p>
          <a:p>
            <a:pPr lvl="3"/>
            <a:r>
              <a:rPr lang="en-US" dirty="0"/>
              <a:t>Fourth level</a:t>
            </a:r>
          </a:p>
          <a:p>
            <a:pPr lvl="4"/>
            <a:r>
              <a:rPr lang="en-US" dirty="0"/>
              <a:t>Fifth level</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br>
              <a:rPr lang="en-US" dirty="0"/>
            </a:br>
            <a:endParaRPr lang="en-US" dirty="0"/>
          </a:p>
        </p:txBody>
      </p:sp>
      <p:sp>
        <p:nvSpPr>
          <p:cNvPr id="6" name="Date Placeholder 4"/>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8" name="Slide Number Placeholder 6"/>
          <p:cNvSpPr>
            <a:spLocks noGrp="1"/>
          </p:cNvSpPr>
          <p:nvPr>
            <p:ph type="sldNum" sz="quarter" idx="12"/>
          </p:nvPr>
        </p:nvSpPr>
        <p:spPr>
          <a:xfrm>
            <a:off x="6858000" y="6400800"/>
            <a:ext cx="2133600" cy="365125"/>
          </a:xfrm>
        </p:spPr>
        <p:txBody>
          <a:bodyPr/>
          <a:lstStyle>
            <a:lvl1pPr>
              <a:defRPr sz="1400"/>
            </a:lvl1pPr>
          </a:lstStyle>
          <a:p>
            <a:pPr>
              <a:defRPr/>
            </a:pPr>
            <a:fld id="{174C6DE3-F3EF-42B8-B6CF-DA55CA4DF251}" type="slidenum">
              <a:rPr lang="en-US"/>
              <a:pPr>
                <a:defRPr/>
              </a:pPr>
              <a:t>‹#›</a:t>
            </a:fld>
            <a:endParaRPr lang="en-US" dirty="0"/>
          </a:p>
        </p:txBody>
      </p:sp>
    </p:spTree>
    <p:extLst>
      <p:ext uri="{BB962C8B-B14F-4D97-AF65-F5344CB8AC3E}">
        <p14:creationId xmlns:p14="http://schemas.microsoft.com/office/powerpoint/2010/main" val="93403613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0B98C08-D43C-425E-BBD3-A447E175253A}" type="slidenum">
              <a:rPr lang="en-US"/>
              <a:pPr>
                <a:defRPr/>
              </a:pPr>
              <a:t>‹#›</a:t>
            </a:fld>
            <a:endParaRPr lang="en-US" dirty="0"/>
          </a:p>
        </p:txBody>
      </p:sp>
    </p:spTree>
    <p:extLst>
      <p:ext uri="{BB962C8B-B14F-4D97-AF65-F5344CB8AC3E}">
        <p14:creationId xmlns:p14="http://schemas.microsoft.com/office/powerpoint/2010/main" val="1972367201"/>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609600" y="76200"/>
            <a:ext cx="8229600" cy="609600"/>
          </a:xfrm>
        </p:spPr>
        <p:txBody>
          <a:bodyPr>
            <a:normAutofit/>
          </a:bodyPr>
          <a:lstStyle>
            <a:lvl1pPr algn="l">
              <a:defRPr sz="2800"/>
            </a:lvl1pPr>
          </a:lstStyle>
          <a:p>
            <a:r>
              <a:rPr lang="en-US" dirty="0"/>
              <a:t>Click to edit Master title style</a:t>
            </a:r>
          </a:p>
        </p:txBody>
      </p:sp>
      <p:sp>
        <p:nvSpPr>
          <p:cNvPr id="9" name="Content Placeholder 2"/>
          <p:cNvSpPr>
            <a:spLocks noGrp="1"/>
          </p:cNvSpPr>
          <p:nvPr>
            <p:ph idx="1"/>
          </p:nvPr>
        </p:nvSpPr>
        <p:spPr>
          <a:xfrm>
            <a:off x="457200" y="1325562"/>
            <a:ext cx="8229600" cy="4525963"/>
          </a:xfrm>
        </p:spPr>
        <p:txBody>
          <a:bodyPr/>
          <a:lstStyle>
            <a:lvl1pPr marL="342900" indent="-342900">
              <a:buFont typeface="Wingdings" pitchFamily="2" charset="2"/>
              <a:buChar char="§"/>
              <a:defRPr sz="1800">
                <a:solidFill>
                  <a:schemeClr val="accent6"/>
                </a:solidFill>
              </a:defRPr>
            </a:lvl1pPr>
            <a:lvl2pPr marL="742950" indent="-285750">
              <a:buSzPct val="80000"/>
              <a:buFont typeface="Wingdings" pitchFamily="2" charset="2"/>
              <a:buChar char="§"/>
              <a:defRPr sz="1600"/>
            </a:lvl2pPr>
            <a:lvl3pPr marL="1143000" indent="-228600">
              <a:buSzPct val="60000"/>
              <a:buFont typeface="Wingdings" pitchFamily="2" charset="2"/>
              <a:buChar char="§"/>
              <a:defRPr sz="1400"/>
            </a:lvl3pPr>
            <a:lvl4pPr marL="1600200" indent="-228600">
              <a:buFont typeface="Arial" pitchFamily="34" charset="0"/>
              <a:buChar char="•"/>
              <a:defRPr sz="1200"/>
            </a:lvl4pPr>
            <a:lvl5pPr marL="2057400" indent="-228600">
              <a:buSzPct val="80000"/>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96EFDBF-18FA-471A-9D41-EA8F4F6B7528}" type="slidenum">
              <a:rPr lang="en-US"/>
              <a:pPr>
                <a:defRPr/>
              </a:pPr>
              <a:t>‹#›</a:t>
            </a:fld>
            <a:endParaRPr lang="en-US" dirty="0"/>
          </a:p>
        </p:txBody>
      </p:sp>
    </p:spTree>
    <p:extLst>
      <p:ext uri="{BB962C8B-B14F-4D97-AF65-F5344CB8AC3E}">
        <p14:creationId xmlns:p14="http://schemas.microsoft.com/office/powerpoint/2010/main" val="4219189400"/>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28CAE9E-DB93-4D1E-9773-FDA1DE5B9E3E}" type="slidenum">
              <a:rPr lang="en-US"/>
              <a:pPr>
                <a:defRPr/>
              </a:pPr>
              <a:t>‹#›</a:t>
            </a:fld>
            <a:endParaRPr lang="en-US" dirty="0"/>
          </a:p>
        </p:txBody>
      </p:sp>
    </p:spTree>
    <p:extLst>
      <p:ext uri="{BB962C8B-B14F-4D97-AF65-F5344CB8AC3E}">
        <p14:creationId xmlns:p14="http://schemas.microsoft.com/office/powerpoint/2010/main" val="164874752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CF1D9B9C-1BE0-4339-9D9E-369C7EBDAC0C}" type="slidenum">
              <a:rPr lang="en-US"/>
              <a:pPr>
                <a:defRPr/>
              </a:pPr>
              <a:t>‹#›</a:t>
            </a:fld>
            <a:endParaRPr lang="en-US" dirty="0"/>
          </a:p>
        </p:txBody>
      </p:sp>
    </p:spTree>
    <p:extLst>
      <p:ext uri="{BB962C8B-B14F-4D97-AF65-F5344CB8AC3E}">
        <p14:creationId xmlns:p14="http://schemas.microsoft.com/office/powerpoint/2010/main" val="375824273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p:cNvPicPr>
            <a:picLocks noChangeAspect="1"/>
          </p:cNvPicPr>
          <p:nvPr userDrawn="1"/>
        </p:nvPicPr>
        <p:blipFill>
          <a:blip r:embed="rId2">
            <a:extLst>
              <a:ext uri="{28A0092B-C50C-407E-A947-70E740481C1C}">
                <a14:useLocalDpi xmlns:a14="http://schemas.microsoft.com/office/drawing/2010/main" val="0"/>
              </a:ext>
            </a:extLst>
          </a:blip>
          <a:srcRect r="-58" b="26666"/>
          <a:stretch>
            <a:fillRect/>
          </a:stretch>
        </p:blipFill>
        <p:spPr bwMode="auto">
          <a:xfrm>
            <a:off x="4763" y="1828800"/>
            <a:ext cx="913923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userDrawn="1"/>
        </p:nvSpPr>
        <p:spPr>
          <a:xfrm>
            <a:off x="0" y="2362200"/>
            <a:ext cx="9144000" cy="1107996"/>
          </a:xfrm>
          <a:prstGeom prst="rect">
            <a:avLst/>
          </a:prstGeom>
          <a:noFill/>
        </p:spPr>
        <p:txBody>
          <a:bodyPr>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fontAlgn="auto">
              <a:spcBef>
                <a:spcPts val="0"/>
              </a:spcBef>
              <a:spcAft>
                <a:spcPts val="0"/>
              </a:spcAft>
              <a:defRPr/>
            </a:pPr>
            <a:r>
              <a:rPr lang="en-US" sz="6600" b="1" dirty="0">
                <a:ln/>
                <a:solidFill>
                  <a:schemeClr val="accent3"/>
                </a:solidFill>
                <a:latin typeface="+mn-lt"/>
                <a:ea typeface="+mn-ea"/>
              </a:rPr>
              <a:t>Thank You</a:t>
            </a:r>
          </a:p>
        </p:txBody>
      </p:sp>
      <p:sp>
        <p:nvSpPr>
          <p:cNvPr id="4" name="Date Placeholder 1"/>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a:t> Q-STEP Techno Brain - Restricted </a:t>
            </a:r>
            <a:endParaRPr lang="en-US" dirty="0"/>
          </a:p>
        </p:txBody>
      </p:sp>
    </p:spTree>
    <p:extLst>
      <p:ext uri="{BB962C8B-B14F-4D97-AF65-F5344CB8AC3E}">
        <p14:creationId xmlns:p14="http://schemas.microsoft.com/office/powerpoint/2010/main" val="2757190519"/>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3703396-D417-4A15-AC07-DD2684E4BCB1}" type="slidenum">
              <a:rPr lang="en-US"/>
              <a:pPr>
                <a:defRPr/>
              </a:pPr>
              <a:t>‹#›</a:t>
            </a:fld>
            <a:endParaRPr lang="en-US" dirty="0"/>
          </a:p>
        </p:txBody>
      </p:sp>
    </p:spTree>
    <p:extLst>
      <p:ext uri="{BB962C8B-B14F-4D97-AF65-F5344CB8AC3E}">
        <p14:creationId xmlns:p14="http://schemas.microsoft.com/office/powerpoint/2010/main" val="3445228782"/>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DFE5687-DD8C-4EE2-B5AD-A504CF01E245}" type="slidenum">
              <a:rPr lang="en-US"/>
              <a:pPr>
                <a:defRPr/>
              </a:pPr>
              <a:t>‹#›</a:t>
            </a:fld>
            <a:endParaRPr lang="en-US" dirty="0"/>
          </a:p>
        </p:txBody>
      </p:sp>
    </p:spTree>
    <p:extLst>
      <p:ext uri="{BB962C8B-B14F-4D97-AF65-F5344CB8AC3E}">
        <p14:creationId xmlns:p14="http://schemas.microsoft.com/office/powerpoint/2010/main" val="3985451990"/>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703192-BA31-497E-B201-1AA3B5FAC891}" type="slidenum">
              <a:rPr lang="en-US"/>
              <a:pPr>
                <a:defRPr/>
              </a:pPr>
              <a:t>‹#›</a:t>
            </a:fld>
            <a:endParaRPr lang="en-US" dirty="0"/>
          </a:p>
        </p:txBody>
      </p:sp>
    </p:spTree>
    <p:extLst>
      <p:ext uri="{BB962C8B-B14F-4D97-AF65-F5344CB8AC3E}">
        <p14:creationId xmlns:p14="http://schemas.microsoft.com/office/powerpoint/2010/main" val="162072516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DE104CC-D604-44C3-8442-AE5EDF1DF56B}" type="slidenum">
              <a:rPr lang="en-US"/>
              <a:pPr>
                <a:defRPr/>
              </a:pPr>
              <a:t>‹#›</a:t>
            </a:fld>
            <a:endParaRPr lang="en-US" dirty="0"/>
          </a:p>
        </p:txBody>
      </p:sp>
    </p:spTree>
    <p:extLst>
      <p:ext uri="{BB962C8B-B14F-4D97-AF65-F5344CB8AC3E}">
        <p14:creationId xmlns:p14="http://schemas.microsoft.com/office/powerpoint/2010/main" val="3413456939"/>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lvl1pPr>
              <a:defRPr/>
            </a:lvl1pPr>
          </a:lstStyle>
          <a:p>
            <a:r>
              <a:rPr lang="en-US" noProof="0"/>
              <a:t>Click to edit Master title style</a:t>
            </a:r>
          </a:p>
        </p:txBody>
      </p:sp>
      <p:sp>
        <p:nvSpPr>
          <p:cNvPr id="31" name="Content Placeholder 26"/>
          <p:cNvSpPr>
            <a:spLocks noGrp="1"/>
          </p:cNvSpPr>
          <p:nvPr>
            <p:ph sz="quarter" idx="15"/>
          </p:nvPr>
        </p:nvSpPr>
        <p:spPr>
          <a:xfrm>
            <a:off x="533400" y="1752600"/>
            <a:ext cx="8077200" cy="4419600"/>
          </a:xfrm>
        </p:spPr>
        <p:txBody>
          <a:bodyPr/>
          <a:lstStyle>
            <a:lvl1pPr>
              <a:defRPr baseline="0"/>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cxnSp>
        <p:nvCxnSpPr>
          <p:cNvPr id="15" name="Shape 14"/>
          <p:cNvCxnSpPr/>
          <p:nvPr/>
        </p:nvCxnSpPr>
        <p:spPr>
          <a:xfrm rot="5400000" flipH="1" flipV="1">
            <a:off x="4419603"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540441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r>
              <a:rPr lang="en-US"/>
              <a:t>22-Mar-2012  Document Version 1.3</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 Q-STEP Techno Brain - Restricted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6A6AE48D-7A05-4FC0-92F3-71DA0C4BF80B}"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231" r:id="rId1"/>
    <p:sldLayoutId id="2147484232" r:id="rId2"/>
    <p:sldLayoutId id="2147484223" r:id="rId3"/>
    <p:sldLayoutId id="2147484224" r:id="rId4"/>
    <p:sldLayoutId id="2147484225" r:id="rId5"/>
    <p:sldLayoutId id="2147484226" r:id="rId6"/>
    <p:sldLayoutId id="2147484233" r:id="rId7"/>
    <p:sldLayoutId id="2147484227" r:id="rId8"/>
    <p:sldLayoutId id="2147484228" r:id="rId9"/>
    <p:sldLayoutId id="2147484229" r:id="rId10"/>
    <p:sldLayoutId id="2147484230" r:id="rId11"/>
    <p:sldLayoutId id="2147484234" r:id="rId12"/>
  </p:sldLayoutIdLst>
  <p:transition spd="slow"/>
  <p:hf hdr="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eaLnBrk="0" fontAlgn="base" hangingPunct="0">
        <a:spcBef>
          <a:spcPct val="20000"/>
        </a:spcBef>
        <a:spcAft>
          <a:spcPct val="0"/>
        </a:spcAft>
        <a:buClr>
          <a:srgbClr val="E46C0A"/>
        </a:buClr>
        <a:buSzPct val="120000"/>
        <a:buFont typeface="Wingdings" pitchFamily="2" charset="2"/>
        <a:buChar char="§"/>
        <a:defRPr kern="1200">
          <a:solidFill>
            <a:srgbClr val="F79646"/>
          </a:solidFill>
          <a:latin typeface="Malgun Gothic" pitchFamily="34" charset="-127"/>
          <a:ea typeface="MS PGothic" pitchFamily="34" charset="-128"/>
          <a:cs typeface="Malgun Gothic" charset="0"/>
        </a:defRPr>
      </a:lvl1pPr>
      <a:lvl2pPr marL="742950" indent="-285750" algn="l" rtl="0" eaLnBrk="0" fontAlgn="base" hangingPunct="0">
        <a:spcBef>
          <a:spcPct val="20000"/>
        </a:spcBef>
        <a:spcAft>
          <a:spcPct val="0"/>
        </a:spcAft>
        <a:buFont typeface="Wingdings" pitchFamily="2" charset="2"/>
        <a:buChar char="§"/>
        <a:defRPr sz="1600" kern="1200">
          <a:solidFill>
            <a:schemeClr val="tx1"/>
          </a:solidFill>
          <a:latin typeface="+mn-lt"/>
          <a:ea typeface="MS PGothic" pitchFamily="34" charset="-128"/>
          <a:cs typeface="MS PGothic" pitchFamily="34" charset="-128"/>
        </a:defRPr>
      </a:lvl2pPr>
      <a:lvl3pPr marL="1143000" indent="-228600" algn="l" rtl="0" eaLnBrk="0" fontAlgn="base" hangingPunct="0">
        <a:spcBef>
          <a:spcPct val="20000"/>
        </a:spcBef>
        <a:spcAft>
          <a:spcPct val="0"/>
        </a:spcAft>
        <a:buFont typeface="Arial" pitchFamily="34" charset="0"/>
        <a:buChar char="•"/>
        <a:defRPr sz="1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sz="1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2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TextBox 3"/>
          <p:cNvSpPr txBox="1">
            <a:spLocks noChangeArrowheads="1"/>
          </p:cNvSpPr>
          <p:nvPr/>
        </p:nvSpPr>
        <p:spPr bwMode="auto">
          <a:xfrm>
            <a:off x="15972" y="6324600"/>
            <a:ext cx="9144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algn="ctr" eaLnBrk="1" hangingPunct="1"/>
            <a:r>
              <a:rPr lang="en-US" sz="1600" b="1" dirty="0">
                <a:latin typeface="Segoe Condensed" pitchFamily="34" charset="0"/>
                <a:ea typeface="Malgun Gothic" pitchFamily="34" charset="-127"/>
              </a:rPr>
              <a:t>www.trimline.co.ke</a:t>
            </a:r>
          </a:p>
        </p:txBody>
      </p:sp>
      <p:sp>
        <p:nvSpPr>
          <p:cNvPr id="5" name="TextBox 4"/>
          <p:cNvSpPr txBox="1"/>
          <p:nvPr/>
        </p:nvSpPr>
        <p:spPr>
          <a:xfrm>
            <a:off x="647700" y="3733800"/>
            <a:ext cx="7848600" cy="1138773"/>
          </a:xfrm>
          <a:prstGeom prst="rect">
            <a:avLst/>
          </a:prstGeom>
          <a:noFill/>
        </p:spPr>
        <p:txBody>
          <a:bodyPr wrap="square" rtlCol="0">
            <a:spAutoFit/>
          </a:bodyPr>
          <a:lstStyle/>
          <a:p>
            <a:pPr algn="ctr"/>
            <a:r>
              <a:rPr lang="en-US" sz="4400" b="1" dirty="0" err="1"/>
              <a:t>TrimLine</a:t>
            </a:r>
            <a:r>
              <a:rPr lang="en-US" sz="4400" b="1" dirty="0"/>
              <a:t> Systems &amp; Solutions</a:t>
            </a:r>
          </a:p>
          <a:p>
            <a:pPr algn="ctr"/>
            <a:endParaRPr lang="en-US" sz="2400" b="1" dirty="0">
              <a:solidFill>
                <a:schemeClr val="bg1"/>
              </a:solidFill>
            </a:endParaRPr>
          </a:p>
        </p:txBody>
      </p:sp>
      <p:pic>
        <p:nvPicPr>
          <p:cNvPr id="6" name="Picture 5">
            <a:extLst>
              <a:ext uri="{FF2B5EF4-FFF2-40B4-BE49-F238E27FC236}">
                <a16:creationId xmlns:a16="http://schemas.microsoft.com/office/drawing/2014/main" id="{299A4C87-58F3-02F6-4CEB-441D865ABA5A}"/>
              </a:ext>
            </a:extLst>
          </p:cNvPr>
          <p:cNvPicPr>
            <a:picLocks noChangeAspect="1"/>
          </p:cNvPicPr>
          <p:nvPr/>
        </p:nvPicPr>
        <p:blipFill>
          <a:blip r:embed="rId3"/>
          <a:stretch>
            <a:fillRect/>
          </a:stretch>
        </p:blipFill>
        <p:spPr bwMode="auto">
          <a:xfrm>
            <a:off x="647700" y="-76200"/>
            <a:ext cx="3581400" cy="27294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EBB2-ED86-9C26-3C1E-232E8CC63AFD}"/>
              </a:ext>
            </a:extLst>
          </p:cNvPr>
          <p:cNvSpPr>
            <a:spLocks noGrp="1"/>
          </p:cNvSpPr>
          <p:nvPr>
            <p:ph type="title"/>
          </p:nvPr>
        </p:nvSpPr>
        <p:spPr/>
        <p:txBody>
          <a:bodyPr>
            <a:normAutofit/>
          </a:bodyPr>
          <a:lstStyle/>
          <a:p>
            <a:pPr algn="ctr"/>
            <a:r>
              <a:rPr lang="en-US" dirty="0"/>
              <a:t>Who We Are</a:t>
            </a:r>
          </a:p>
        </p:txBody>
      </p:sp>
      <p:sp>
        <p:nvSpPr>
          <p:cNvPr id="3" name="Content Placeholder 2">
            <a:extLst>
              <a:ext uri="{FF2B5EF4-FFF2-40B4-BE49-F238E27FC236}">
                <a16:creationId xmlns:a16="http://schemas.microsoft.com/office/drawing/2014/main" id="{F806B17F-DB55-A6D2-014E-F44FD473C0B2}"/>
              </a:ext>
            </a:extLst>
          </p:cNvPr>
          <p:cNvSpPr>
            <a:spLocks noGrp="1"/>
          </p:cNvSpPr>
          <p:nvPr>
            <p:ph idx="1"/>
          </p:nvPr>
        </p:nvSpPr>
        <p:spPr>
          <a:xfrm>
            <a:off x="533400" y="2667000"/>
            <a:ext cx="8229600" cy="2239963"/>
          </a:xfrm>
        </p:spPr>
        <p:txBody>
          <a:bodyPr/>
          <a:lstStyle/>
          <a:p>
            <a:pPr marL="0" indent="0" algn="ctr">
              <a:buNone/>
            </a:pPr>
            <a:r>
              <a:rPr lang="en-US" dirty="0">
                <a:solidFill>
                  <a:schemeClr val="tx1"/>
                </a:solidFill>
              </a:rPr>
              <a:t>Trimline Systems &amp; Solutions is a custom software services firm based in Nairobi, Kenya. We have extensive experience in many diverse areas of both software and hardware development. Our experienced staff of professionals has worked with a wide array of platforms, languages, and tools in the course of our various projects. </a:t>
            </a:r>
          </a:p>
        </p:txBody>
      </p:sp>
      <p:sp>
        <p:nvSpPr>
          <p:cNvPr id="6" name="Slide Number Placeholder 5">
            <a:extLst>
              <a:ext uri="{FF2B5EF4-FFF2-40B4-BE49-F238E27FC236}">
                <a16:creationId xmlns:a16="http://schemas.microsoft.com/office/drawing/2014/main" id="{816EB711-C36D-D446-0187-D96A693ACA03}"/>
              </a:ext>
            </a:extLst>
          </p:cNvPr>
          <p:cNvSpPr>
            <a:spLocks noGrp="1"/>
          </p:cNvSpPr>
          <p:nvPr>
            <p:ph type="sldNum" sz="quarter" idx="12"/>
          </p:nvPr>
        </p:nvSpPr>
        <p:spPr/>
        <p:txBody>
          <a:bodyPr/>
          <a:lstStyle/>
          <a:p>
            <a:pPr>
              <a:defRPr/>
            </a:pPr>
            <a:fld id="{174C6DE3-F3EF-42B8-B6CF-DA55CA4DF251}" type="slidenum">
              <a:rPr lang="en-US" smtClean="0"/>
              <a:pPr>
                <a:defRPr/>
              </a:pPr>
              <a:t>2</a:t>
            </a:fld>
            <a:endParaRPr lang="en-US" dirty="0"/>
          </a:p>
        </p:txBody>
      </p:sp>
    </p:spTree>
    <p:extLst>
      <p:ext uri="{BB962C8B-B14F-4D97-AF65-F5344CB8AC3E}">
        <p14:creationId xmlns:p14="http://schemas.microsoft.com/office/powerpoint/2010/main" val="257565132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03194-71DB-0248-2890-43522B1C9733}"/>
              </a:ext>
            </a:extLst>
          </p:cNvPr>
          <p:cNvSpPr>
            <a:spLocks noGrp="1"/>
          </p:cNvSpPr>
          <p:nvPr>
            <p:ph type="title"/>
          </p:nvPr>
        </p:nvSpPr>
        <p:spPr/>
        <p:txBody>
          <a:bodyPr/>
          <a:lstStyle/>
          <a:p>
            <a:pPr algn="ctr"/>
            <a:r>
              <a:rPr lang="en-US" dirty="0"/>
              <a:t>What we offer</a:t>
            </a:r>
          </a:p>
        </p:txBody>
      </p:sp>
      <p:sp>
        <p:nvSpPr>
          <p:cNvPr id="3" name="Content Placeholder 2">
            <a:extLst>
              <a:ext uri="{FF2B5EF4-FFF2-40B4-BE49-F238E27FC236}">
                <a16:creationId xmlns:a16="http://schemas.microsoft.com/office/drawing/2014/main" id="{7480694A-B41D-6C18-83F4-66A4409126ED}"/>
              </a:ext>
            </a:extLst>
          </p:cNvPr>
          <p:cNvSpPr>
            <a:spLocks noGrp="1"/>
          </p:cNvSpPr>
          <p:nvPr>
            <p:ph idx="1"/>
          </p:nvPr>
        </p:nvSpPr>
        <p:spPr>
          <a:xfrm>
            <a:off x="2971800" y="731837"/>
            <a:ext cx="5334000" cy="4525963"/>
          </a:xfrm>
        </p:spPr>
        <p:txBody>
          <a:bodyPr/>
          <a:lstStyle/>
          <a:p>
            <a:r>
              <a:rPr lang="en-US" sz="1800" b="1" dirty="0">
                <a:solidFill>
                  <a:schemeClr val="tx1"/>
                </a:solidFill>
              </a:rPr>
              <a:t>Sacco ERP</a:t>
            </a:r>
          </a:p>
          <a:p>
            <a:r>
              <a:rPr lang="en-US" sz="1800" b="1" dirty="0">
                <a:solidFill>
                  <a:schemeClr val="tx1"/>
                </a:solidFill>
              </a:rPr>
              <a:t>Mobile Banking</a:t>
            </a:r>
          </a:p>
          <a:p>
            <a:r>
              <a:rPr lang="en-US" sz="1800" b="1" dirty="0">
                <a:solidFill>
                  <a:schemeClr val="tx1"/>
                </a:solidFill>
              </a:rPr>
              <a:t>Web portal</a:t>
            </a:r>
          </a:p>
          <a:p>
            <a:r>
              <a:rPr lang="en-US" sz="1800" b="1" dirty="0">
                <a:solidFill>
                  <a:schemeClr val="tx1"/>
                </a:solidFill>
              </a:rPr>
              <a:t>Agency Banking</a:t>
            </a:r>
          </a:p>
          <a:p>
            <a:r>
              <a:rPr lang="en-US" sz="1800" b="1" dirty="0">
                <a:solidFill>
                  <a:schemeClr val="tx1"/>
                </a:solidFill>
              </a:rPr>
              <a:t>Atm Bridge</a:t>
            </a:r>
            <a:endParaRPr lang="en-US" dirty="0">
              <a:solidFill>
                <a:schemeClr val="tx1"/>
              </a:solidFill>
            </a:endParaRPr>
          </a:p>
        </p:txBody>
      </p:sp>
      <p:sp>
        <p:nvSpPr>
          <p:cNvPr id="6" name="Slide Number Placeholder 5">
            <a:extLst>
              <a:ext uri="{FF2B5EF4-FFF2-40B4-BE49-F238E27FC236}">
                <a16:creationId xmlns:a16="http://schemas.microsoft.com/office/drawing/2014/main" id="{2B4F9772-37E8-9233-5B20-3FB923DC843F}"/>
              </a:ext>
            </a:extLst>
          </p:cNvPr>
          <p:cNvSpPr>
            <a:spLocks noGrp="1"/>
          </p:cNvSpPr>
          <p:nvPr>
            <p:ph type="sldNum" sz="quarter" idx="12"/>
          </p:nvPr>
        </p:nvSpPr>
        <p:spPr/>
        <p:txBody>
          <a:bodyPr/>
          <a:lstStyle/>
          <a:p>
            <a:pPr>
              <a:defRPr/>
            </a:pPr>
            <a:fld id="{174C6DE3-F3EF-42B8-B6CF-DA55CA4DF251}" type="slidenum">
              <a:rPr lang="en-US" smtClean="0"/>
              <a:pPr>
                <a:defRPr/>
              </a:pPr>
              <a:t>3</a:t>
            </a:fld>
            <a:endParaRPr lang="en-US" dirty="0"/>
          </a:p>
        </p:txBody>
      </p:sp>
    </p:spTree>
    <p:extLst>
      <p:ext uri="{BB962C8B-B14F-4D97-AF65-F5344CB8AC3E}">
        <p14:creationId xmlns:p14="http://schemas.microsoft.com/office/powerpoint/2010/main" val="61328850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Sacco </a:t>
            </a:r>
            <a:r>
              <a:rPr lang="en-US" sz="3600" b="0" dirty="0" err="1">
                <a:solidFill>
                  <a:prstClr val="black"/>
                </a:solidFill>
                <a:latin typeface="+mn-lt"/>
              </a:rPr>
              <a:t>Erp</a:t>
            </a:r>
            <a:endParaRPr lang="en-US" sz="3600" b="0" dirty="0">
              <a:solidFill>
                <a:prstClr val="black"/>
              </a:solidFill>
              <a:latin typeface="+mn-lt"/>
            </a:endParaRP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Features:</a:t>
            </a:r>
          </a:p>
          <a:p>
            <a:r>
              <a:rPr lang="en-US" dirty="0">
                <a:solidFill>
                  <a:prstClr val="black"/>
                </a:solidFill>
              </a:rPr>
              <a:t>Finance(</a:t>
            </a:r>
            <a:r>
              <a:rPr lang="en-US" dirty="0" err="1">
                <a:solidFill>
                  <a:prstClr val="black"/>
                </a:solidFill>
              </a:rPr>
              <a:t>Payments,Receipts,Cash</a:t>
            </a:r>
            <a:r>
              <a:rPr lang="en-US" dirty="0">
                <a:solidFill>
                  <a:prstClr val="black"/>
                </a:solidFill>
              </a:rPr>
              <a:t> management)</a:t>
            </a:r>
          </a:p>
          <a:p>
            <a:r>
              <a:rPr lang="en-US" dirty="0">
                <a:solidFill>
                  <a:prstClr val="black"/>
                </a:solidFill>
              </a:rPr>
              <a:t>Members management(BOSA)</a:t>
            </a:r>
          </a:p>
          <a:p>
            <a:r>
              <a:rPr lang="en-US" dirty="0" err="1">
                <a:solidFill>
                  <a:prstClr val="black"/>
                </a:solidFill>
              </a:rPr>
              <a:t>Fosa</a:t>
            </a:r>
            <a:r>
              <a:rPr lang="en-US" dirty="0">
                <a:solidFill>
                  <a:prstClr val="black"/>
                </a:solidFill>
              </a:rPr>
              <a:t> Management</a:t>
            </a:r>
          </a:p>
          <a:p>
            <a:r>
              <a:rPr lang="en-US" dirty="0">
                <a:solidFill>
                  <a:prstClr val="black"/>
                </a:solidFill>
              </a:rPr>
              <a:t>Loans management</a:t>
            </a:r>
          </a:p>
          <a:p>
            <a:r>
              <a:rPr lang="en-US" dirty="0">
                <a:solidFill>
                  <a:prstClr val="black"/>
                </a:solidFill>
              </a:rPr>
              <a:t>Alternate channels (Mobile, Atm, Portals)</a:t>
            </a:r>
          </a:p>
          <a:p>
            <a:r>
              <a:rPr lang="en-US" dirty="0">
                <a:solidFill>
                  <a:prstClr val="black"/>
                </a:solidFill>
              </a:rPr>
              <a:t>Mobile money and Banks integrations</a:t>
            </a:r>
          </a:p>
          <a:p>
            <a:r>
              <a:rPr lang="en-US" dirty="0" err="1">
                <a:solidFill>
                  <a:prstClr val="black"/>
                </a:solidFill>
              </a:rPr>
              <a:t>Hr</a:t>
            </a:r>
            <a:r>
              <a:rPr lang="en-US" dirty="0">
                <a:solidFill>
                  <a:prstClr val="black"/>
                </a:solidFill>
              </a:rPr>
              <a:t> &amp; Payroll</a:t>
            </a:r>
          </a:p>
          <a:p>
            <a:r>
              <a:rPr lang="en-US" dirty="0">
                <a:solidFill>
                  <a:prstClr val="black"/>
                </a:solidFill>
              </a:rPr>
              <a:t>Inventory</a:t>
            </a:r>
          </a:p>
          <a:p>
            <a:r>
              <a:rPr lang="en-US" dirty="0">
                <a:solidFill>
                  <a:prstClr val="black"/>
                </a:solidFill>
              </a:rPr>
              <a:t>Sales</a:t>
            </a:r>
          </a:p>
          <a:p>
            <a:r>
              <a:rPr lang="en-US" dirty="0">
                <a:solidFill>
                  <a:prstClr val="black"/>
                </a:solidFill>
              </a:rPr>
              <a:t>Warehouse</a:t>
            </a:r>
          </a:p>
          <a:p>
            <a:r>
              <a:rPr lang="en-US" dirty="0">
                <a:solidFill>
                  <a:prstClr val="black"/>
                </a:solidFill>
              </a:rPr>
              <a:t>Manufacturing</a:t>
            </a:r>
          </a:p>
          <a:p>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4</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3305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Registration Process</a:t>
            </a: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Features:</a:t>
            </a:r>
          </a:p>
          <a:p>
            <a:r>
              <a:rPr lang="en-US" dirty="0">
                <a:solidFill>
                  <a:prstClr val="black"/>
                </a:solidFill>
              </a:rPr>
              <a:t>Member KYC (Name, National ID Number, Phone No, Email)</a:t>
            </a:r>
          </a:p>
          <a:p>
            <a:r>
              <a:rPr lang="en-US" dirty="0">
                <a:solidFill>
                  <a:prstClr val="black"/>
                </a:solidFill>
              </a:rPr>
              <a:t>Next of Kin Registration</a:t>
            </a:r>
          </a:p>
          <a:p>
            <a:r>
              <a:rPr lang="en-US" dirty="0">
                <a:solidFill>
                  <a:prstClr val="black"/>
                </a:solidFill>
              </a:rPr>
              <a:t>Signatories Registration</a:t>
            </a:r>
          </a:p>
          <a:p>
            <a:r>
              <a:rPr lang="en-US" dirty="0">
                <a:solidFill>
                  <a:prstClr val="black"/>
                </a:solidFill>
              </a:rPr>
              <a:t>Members Passport and Signature</a:t>
            </a:r>
          </a:p>
          <a:p>
            <a:r>
              <a:rPr lang="en-US" dirty="0">
                <a:solidFill>
                  <a:prstClr val="black"/>
                </a:solidFill>
              </a:rPr>
              <a:t>Appraisal and Approval workflow</a:t>
            </a:r>
          </a:p>
          <a:p>
            <a:r>
              <a:rPr lang="en-US" dirty="0">
                <a:solidFill>
                  <a:prstClr val="black"/>
                </a:solidFill>
              </a:rPr>
              <a:t>Registration Fees</a:t>
            </a:r>
          </a:p>
          <a:p>
            <a:r>
              <a:rPr lang="en-US" dirty="0">
                <a:solidFill>
                  <a:prstClr val="black"/>
                </a:solidFill>
              </a:rPr>
              <a:t>Account Creation</a:t>
            </a:r>
          </a:p>
          <a:p>
            <a:pPr marL="0" indent="0">
              <a:buNone/>
            </a:pPr>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5</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735913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Loan Application Process</a:t>
            </a: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Features:</a:t>
            </a:r>
          </a:p>
          <a:p>
            <a:r>
              <a:rPr lang="en-US" dirty="0">
                <a:solidFill>
                  <a:prstClr val="black"/>
                </a:solidFill>
              </a:rPr>
              <a:t>Loan Products Setup</a:t>
            </a:r>
          </a:p>
          <a:p>
            <a:pPr lvl="1"/>
            <a:r>
              <a:rPr lang="en-US" dirty="0">
                <a:solidFill>
                  <a:prstClr val="black"/>
                </a:solidFill>
              </a:rPr>
              <a:t>Interest rate</a:t>
            </a:r>
          </a:p>
          <a:p>
            <a:pPr lvl="1"/>
            <a:r>
              <a:rPr lang="en-US" dirty="0">
                <a:solidFill>
                  <a:prstClr val="black"/>
                </a:solidFill>
              </a:rPr>
              <a:t>Repayment period</a:t>
            </a:r>
          </a:p>
          <a:p>
            <a:pPr lvl="1"/>
            <a:r>
              <a:rPr lang="en-US" dirty="0">
                <a:solidFill>
                  <a:prstClr val="black"/>
                </a:solidFill>
              </a:rPr>
              <a:t>Repayment Method(Reducing </a:t>
            </a:r>
            <a:r>
              <a:rPr lang="en-US" dirty="0" err="1">
                <a:solidFill>
                  <a:prstClr val="black"/>
                </a:solidFill>
              </a:rPr>
              <a:t>balance,Amortised</a:t>
            </a:r>
            <a:r>
              <a:rPr lang="en-US" dirty="0">
                <a:solidFill>
                  <a:prstClr val="black"/>
                </a:solidFill>
              </a:rPr>
              <a:t>, Straight Line)</a:t>
            </a:r>
          </a:p>
          <a:p>
            <a:pPr lvl="1"/>
            <a:r>
              <a:rPr lang="en-US" dirty="0">
                <a:solidFill>
                  <a:prstClr val="black"/>
                </a:solidFill>
              </a:rPr>
              <a:t>Accounts(Loan account, Interest </a:t>
            </a:r>
            <a:r>
              <a:rPr lang="en-US" dirty="0" err="1">
                <a:solidFill>
                  <a:prstClr val="black"/>
                </a:solidFill>
              </a:rPr>
              <a:t>income,Interest</a:t>
            </a:r>
            <a:r>
              <a:rPr lang="en-US" dirty="0">
                <a:solidFill>
                  <a:prstClr val="black"/>
                </a:solidFill>
              </a:rPr>
              <a:t> receivable, Penalty)</a:t>
            </a:r>
          </a:p>
          <a:p>
            <a:pPr lvl="1"/>
            <a:r>
              <a:rPr lang="en-US" dirty="0">
                <a:solidFill>
                  <a:prstClr val="black"/>
                </a:solidFill>
              </a:rPr>
              <a:t>Penalty Percentage</a:t>
            </a:r>
          </a:p>
          <a:p>
            <a:pPr lvl="1"/>
            <a:r>
              <a:rPr lang="en-US" dirty="0">
                <a:solidFill>
                  <a:prstClr val="black"/>
                </a:solidFill>
              </a:rPr>
              <a:t>Grace Period</a:t>
            </a:r>
          </a:p>
          <a:p>
            <a:pPr lvl="1"/>
            <a:r>
              <a:rPr lang="en-US" dirty="0">
                <a:solidFill>
                  <a:prstClr val="black"/>
                </a:solidFill>
              </a:rPr>
              <a:t>Guarantors</a:t>
            </a:r>
          </a:p>
          <a:p>
            <a:r>
              <a:rPr lang="en-US" dirty="0">
                <a:solidFill>
                  <a:prstClr val="black"/>
                </a:solidFill>
              </a:rPr>
              <a:t>Loan Application</a:t>
            </a:r>
          </a:p>
          <a:p>
            <a:pPr lvl="1"/>
            <a:r>
              <a:rPr lang="en-US" dirty="0">
                <a:solidFill>
                  <a:prstClr val="black"/>
                </a:solidFill>
              </a:rPr>
              <a:t>Application Date</a:t>
            </a:r>
          </a:p>
          <a:p>
            <a:pPr lvl="1"/>
            <a:r>
              <a:rPr lang="en-US" dirty="0">
                <a:solidFill>
                  <a:prstClr val="black"/>
                </a:solidFill>
              </a:rPr>
              <a:t>Loan Product</a:t>
            </a:r>
          </a:p>
          <a:p>
            <a:pPr lvl="1"/>
            <a:r>
              <a:rPr lang="en-US" dirty="0">
                <a:solidFill>
                  <a:prstClr val="black"/>
                </a:solidFill>
              </a:rPr>
              <a:t>Repayment Period</a:t>
            </a:r>
          </a:p>
          <a:p>
            <a:pPr lvl="1"/>
            <a:r>
              <a:rPr lang="en-US" dirty="0">
                <a:solidFill>
                  <a:prstClr val="black"/>
                </a:solidFill>
              </a:rPr>
              <a:t>Application Amount</a:t>
            </a:r>
          </a:p>
          <a:p>
            <a:pPr marL="0" indent="0">
              <a:buNone/>
            </a:pPr>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6</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43896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Loan Application Process ..</a:t>
            </a:r>
          </a:p>
        </p:txBody>
      </p:sp>
      <p:sp>
        <p:nvSpPr>
          <p:cNvPr id="2" name="Content Placeholder 1"/>
          <p:cNvSpPr>
            <a:spLocks noGrp="1"/>
          </p:cNvSpPr>
          <p:nvPr>
            <p:ph sz="quarter" idx="15"/>
          </p:nvPr>
        </p:nvSpPr>
        <p:spPr>
          <a:ln>
            <a:solidFill>
              <a:schemeClr val="accent3">
                <a:lumMod val="75000"/>
              </a:schemeClr>
            </a:solidFill>
          </a:ln>
        </p:spPr>
        <p:txBody>
          <a:bodyPr/>
          <a:lstStyle/>
          <a:p>
            <a:pPr lvl="1"/>
            <a:r>
              <a:rPr lang="en-US" dirty="0">
                <a:solidFill>
                  <a:prstClr val="black"/>
                </a:solidFill>
              </a:rPr>
              <a:t>Guarantors setup</a:t>
            </a:r>
          </a:p>
          <a:p>
            <a:pPr lvl="1"/>
            <a:r>
              <a:rPr lang="en-US" dirty="0">
                <a:solidFill>
                  <a:prstClr val="black"/>
                </a:solidFill>
              </a:rPr>
              <a:t>Repayment Schedule</a:t>
            </a:r>
          </a:p>
          <a:p>
            <a:pPr lvl="1"/>
            <a:r>
              <a:rPr lang="en-US" dirty="0">
                <a:solidFill>
                  <a:prstClr val="black"/>
                </a:solidFill>
              </a:rPr>
              <a:t>Approval Work flow</a:t>
            </a:r>
          </a:p>
          <a:p>
            <a:pPr lvl="1"/>
            <a:r>
              <a:rPr lang="en-US" dirty="0">
                <a:solidFill>
                  <a:prstClr val="black"/>
                </a:solidFill>
              </a:rPr>
              <a:t>Top ups</a:t>
            </a:r>
          </a:p>
          <a:p>
            <a:pPr marL="457200" lvl="1" indent="0">
              <a:buNone/>
            </a:pPr>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7</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957879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Mobile Banking</a:t>
            </a: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Options:</a:t>
            </a:r>
          </a:p>
          <a:p>
            <a:r>
              <a:rPr lang="en-US" dirty="0" err="1">
                <a:solidFill>
                  <a:prstClr val="black"/>
                </a:solidFill>
              </a:rPr>
              <a:t>Ussd</a:t>
            </a:r>
            <a:r>
              <a:rPr lang="en-US" dirty="0">
                <a:solidFill>
                  <a:prstClr val="black"/>
                </a:solidFill>
              </a:rPr>
              <a:t> &amp; Mobile App</a:t>
            </a:r>
          </a:p>
          <a:p>
            <a:pPr marL="0" indent="0">
              <a:buNone/>
            </a:pPr>
            <a:r>
              <a:rPr lang="en-US" b="1" dirty="0">
                <a:solidFill>
                  <a:prstClr val="black"/>
                </a:solidFill>
              </a:rPr>
              <a:t>Features:</a:t>
            </a:r>
          </a:p>
          <a:p>
            <a:r>
              <a:rPr lang="en-US" dirty="0">
                <a:solidFill>
                  <a:prstClr val="black"/>
                </a:solidFill>
              </a:rPr>
              <a:t>All account/sub accounts Balances</a:t>
            </a:r>
          </a:p>
          <a:p>
            <a:r>
              <a:rPr lang="en-US" dirty="0">
                <a:solidFill>
                  <a:prstClr val="black"/>
                </a:solidFill>
              </a:rPr>
              <a:t>Mini statement</a:t>
            </a:r>
          </a:p>
          <a:p>
            <a:r>
              <a:rPr lang="en-US" dirty="0">
                <a:solidFill>
                  <a:prstClr val="black"/>
                </a:solidFill>
              </a:rPr>
              <a:t>Transfer to mobile money(</a:t>
            </a:r>
            <a:r>
              <a:rPr lang="en-US" dirty="0" err="1">
                <a:solidFill>
                  <a:prstClr val="black"/>
                </a:solidFill>
              </a:rPr>
              <a:t>Mpesa</a:t>
            </a:r>
            <a:r>
              <a:rPr lang="en-US" dirty="0">
                <a:solidFill>
                  <a:prstClr val="black"/>
                </a:solidFill>
              </a:rPr>
              <a:t>, Airtel Money, t-</a:t>
            </a:r>
            <a:r>
              <a:rPr lang="en-US" dirty="0" err="1">
                <a:solidFill>
                  <a:prstClr val="black"/>
                </a:solidFill>
              </a:rPr>
              <a:t>Kash</a:t>
            </a:r>
            <a:r>
              <a:rPr lang="en-US" dirty="0">
                <a:solidFill>
                  <a:prstClr val="black"/>
                </a:solidFill>
              </a:rPr>
              <a:t>)</a:t>
            </a:r>
          </a:p>
          <a:p>
            <a:r>
              <a:rPr lang="en-US" dirty="0">
                <a:solidFill>
                  <a:prstClr val="black"/>
                </a:solidFill>
              </a:rPr>
              <a:t>Loan application(instant loans, other loans)</a:t>
            </a:r>
          </a:p>
          <a:p>
            <a:r>
              <a:rPr lang="en-US" dirty="0">
                <a:solidFill>
                  <a:prstClr val="black"/>
                </a:solidFill>
              </a:rPr>
              <a:t>Loans Repayment</a:t>
            </a:r>
          </a:p>
          <a:p>
            <a:r>
              <a:rPr lang="en-US" dirty="0">
                <a:solidFill>
                  <a:prstClr val="black"/>
                </a:solidFill>
              </a:rPr>
              <a:t>Deposits to all accounts</a:t>
            </a:r>
          </a:p>
          <a:p>
            <a:r>
              <a:rPr lang="en-US" dirty="0">
                <a:solidFill>
                  <a:prstClr val="black"/>
                </a:solidFill>
              </a:rPr>
              <a:t>Inter account transfers</a:t>
            </a:r>
          </a:p>
          <a:p>
            <a:r>
              <a:rPr lang="en-US" dirty="0">
                <a:solidFill>
                  <a:prstClr val="black"/>
                </a:solidFill>
              </a:rPr>
              <a:t>Airtime </a:t>
            </a:r>
            <a:r>
              <a:rPr lang="en-US" dirty="0" err="1">
                <a:solidFill>
                  <a:prstClr val="black"/>
                </a:solidFill>
              </a:rPr>
              <a:t>topup</a:t>
            </a:r>
            <a:endParaRPr lang="en-US" dirty="0">
              <a:solidFill>
                <a:prstClr val="black"/>
              </a:solidFill>
            </a:endParaRPr>
          </a:p>
          <a:p>
            <a:r>
              <a:rPr lang="en-US" dirty="0">
                <a:solidFill>
                  <a:prstClr val="black"/>
                </a:solidFill>
              </a:rPr>
              <a:t>Utility payment</a:t>
            </a: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8</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2074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9</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3"/>
          <a:stretch>
            <a:fillRect/>
          </a:stretch>
        </p:blipFill>
        <p:spPr>
          <a:xfrm>
            <a:off x="1479018" y="35499"/>
            <a:ext cx="6185963" cy="67870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Agency Banking</a:t>
            </a:r>
          </a:p>
        </p:txBody>
      </p:sp>
      <p:sp>
        <p:nvSpPr>
          <p:cNvPr id="3" name="Content Placeholder 2"/>
          <p:cNvSpPr>
            <a:spLocks noGrp="1"/>
          </p:cNvSpPr>
          <p:nvPr>
            <p:ph sz="quarter" idx="15"/>
          </p:nvPr>
        </p:nvSpPr>
        <p:spPr/>
        <p:txBody>
          <a:bodyPr/>
          <a:lstStyle/>
          <a:p>
            <a:pPr marL="0" indent="0">
              <a:buNone/>
            </a:pPr>
            <a:r>
              <a:rPr lang="en-US" b="1" dirty="0">
                <a:solidFill>
                  <a:schemeClr val="tx1"/>
                </a:solidFill>
              </a:rPr>
              <a:t>Features</a:t>
            </a:r>
          </a:p>
          <a:p>
            <a:r>
              <a:rPr lang="en-US" dirty="0">
                <a:solidFill>
                  <a:schemeClr val="tx1"/>
                </a:solidFill>
              </a:rPr>
              <a:t>Account activation </a:t>
            </a:r>
          </a:p>
          <a:p>
            <a:r>
              <a:rPr lang="en-US" dirty="0">
                <a:solidFill>
                  <a:schemeClr val="tx1"/>
                </a:solidFill>
              </a:rPr>
              <a:t>Cash Withdrawal</a:t>
            </a:r>
          </a:p>
          <a:p>
            <a:r>
              <a:rPr lang="en-US" dirty="0">
                <a:solidFill>
                  <a:schemeClr val="tx1"/>
                </a:solidFill>
              </a:rPr>
              <a:t>Deposit</a:t>
            </a:r>
          </a:p>
          <a:p>
            <a:r>
              <a:rPr lang="en-US" dirty="0">
                <a:solidFill>
                  <a:schemeClr val="tx1"/>
                </a:solidFill>
              </a:rPr>
              <a:t>Transfer</a:t>
            </a:r>
          </a:p>
          <a:p>
            <a:r>
              <a:rPr lang="en-US" dirty="0">
                <a:solidFill>
                  <a:schemeClr val="tx1"/>
                </a:solidFill>
              </a:rPr>
              <a:t>Loan application</a:t>
            </a:r>
          </a:p>
          <a:p>
            <a:r>
              <a:rPr lang="en-US" dirty="0">
                <a:solidFill>
                  <a:schemeClr val="tx1"/>
                </a:solidFill>
              </a:rPr>
              <a:t>Pay Loan</a:t>
            </a:r>
          </a:p>
          <a:p>
            <a:r>
              <a:rPr lang="en-US" dirty="0">
                <a:solidFill>
                  <a:schemeClr val="tx1"/>
                </a:solidFill>
              </a:rPr>
              <a:t>Transfer</a:t>
            </a:r>
          </a:p>
          <a:p>
            <a:r>
              <a:rPr lang="en-US" dirty="0">
                <a:solidFill>
                  <a:schemeClr val="tx1"/>
                </a:solidFill>
              </a:rPr>
              <a:t>Balance Enquiry</a:t>
            </a:r>
          </a:p>
          <a:p>
            <a:r>
              <a:rPr lang="en-US" dirty="0">
                <a:solidFill>
                  <a:schemeClr val="tx1"/>
                </a:solidFill>
              </a:rPr>
              <a:t>Mini statements</a:t>
            </a:r>
          </a:p>
          <a:p>
            <a:r>
              <a:rPr lang="en-US" dirty="0">
                <a:solidFill>
                  <a:schemeClr val="tx1"/>
                </a:solidFill>
              </a:rPr>
              <a:t>Reports</a:t>
            </a:r>
          </a:p>
          <a:p>
            <a:endParaRPr lang="en-US" dirty="0"/>
          </a:p>
          <a:p>
            <a:endParaRPr lang="en-US" dirty="0"/>
          </a:p>
        </p:txBody>
      </p:sp>
    </p:spTree>
    <p:extLst>
      <p:ext uri="{BB962C8B-B14F-4D97-AF65-F5344CB8AC3E}">
        <p14:creationId xmlns:p14="http://schemas.microsoft.com/office/powerpoint/2010/main" val="3924284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533400" y="685800"/>
            <a:ext cx="8077200" cy="914400"/>
          </a:xfrm>
        </p:spPr>
        <p:txBody>
          <a:bodyPr/>
          <a:lstStyle/>
          <a:p>
            <a:r>
              <a:rPr lang="en-GB" dirty="0" err="1"/>
              <a:t>Atm</a:t>
            </a:r>
            <a:r>
              <a:rPr lang="en-GB" dirty="0"/>
              <a:t> Bridge</a:t>
            </a:r>
          </a:p>
        </p:txBody>
      </p:sp>
      <p:sp>
        <p:nvSpPr>
          <p:cNvPr id="2" name="Content Placeholder 1"/>
          <p:cNvSpPr>
            <a:spLocks noGrp="1"/>
          </p:cNvSpPr>
          <p:nvPr>
            <p:ph sz="quarter" idx="15"/>
          </p:nvPr>
        </p:nvSpPr>
        <p:spPr>
          <a:xfrm>
            <a:off x="381000" y="1494622"/>
            <a:ext cx="3733800" cy="4419600"/>
          </a:xfrm>
        </p:spPr>
        <p:txBody>
          <a:bodyPr/>
          <a:lstStyle/>
          <a:p>
            <a:pPr marL="0" indent="0">
              <a:buNone/>
            </a:pPr>
            <a:r>
              <a:rPr lang="en-US" b="1" dirty="0">
                <a:solidFill>
                  <a:schemeClr val="tx1"/>
                </a:solidFill>
              </a:rPr>
              <a:t>Features</a:t>
            </a:r>
          </a:p>
          <a:p>
            <a:pPr lvl="0"/>
            <a:r>
              <a:rPr lang="en-US" dirty="0">
                <a:solidFill>
                  <a:schemeClr val="tx1"/>
                </a:solidFill>
              </a:rPr>
              <a:t>Balance Enquiry</a:t>
            </a:r>
          </a:p>
          <a:p>
            <a:pPr lvl="0"/>
            <a:r>
              <a:rPr lang="en-US" dirty="0">
                <a:solidFill>
                  <a:schemeClr val="tx1"/>
                </a:solidFill>
              </a:rPr>
              <a:t>Mini Statement</a:t>
            </a:r>
          </a:p>
          <a:p>
            <a:pPr lvl="0"/>
            <a:r>
              <a:rPr lang="en-US" dirty="0">
                <a:solidFill>
                  <a:schemeClr val="tx1"/>
                </a:solidFill>
              </a:rPr>
              <a:t>Cash Withdrawal - Coop ATM</a:t>
            </a:r>
          </a:p>
          <a:p>
            <a:pPr lvl="0"/>
            <a:r>
              <a:rPr lang="en-US" dirty="0">
                <a:solidFill>
                  <a:schemeClr val="tx1"/>
                </a:solidFill>
              </a:rPr>
              <a:t>Cash Withdrawal - VISA ATM</a:t>
            </a:r>
          </a:p>
          <a:p>
            <a:pPr lvl="0"/>
            <a:r>
              <a:rPr lang="en-US" dirty="0">
                <a:solidFill>
                  <a:schemeClr val="tx1"/>
                </a:solidFill>
              </a:rPr>
              <a:t>Reversal</a:t>
            </a:r>
          </a:p>
          <a:p>
            <a:pPr lvl="0"/>
            <a:r>
              <a:rPr lang="en-US" dirty="0">
                <a:solidFill>
                  <a:schemeClr val="tx1"/>
                </a:solidFill>
              </a:rPr>
              <a:t>Utility Payment</a:t>
            </a:r>
          </a:p>
          <a:p>
            <a:pPr lvl="0"/>
            <a:r>
              <a:rPr lang="en-US" dirty="0">
                <a:solidFill>
                  <a:schemeClr val="tx1"/>
                </a:solidFill>
              </a:rPr>
              <a:t>POS - Normal Purchase</a:t>
            </a:r>
          </a:p>
          <a:p>
            <a:pPr lvl="0"/>
            <a:r>
              <a:rPr lang="en-US" dirty="0">
                <a:solidFill>
                  <a:schemeClr val="tx1"/>
                </a:solidFill>
              </a:rPr>
              <a:t>M-PESA Withdrawal</a:t>
            </a:r>
          </a:p>
          <a:p>
            <a:pPr lvl="0"/>
            <a:r>
              <a:rPr lang="en-US" dirty="0">
                <a:solidFill>
                  <a:schemeClr val="tx1"/>
                </a:solidFill>
              </a:rPr>
              <a:t>Airtime Purchase</a:t>
            </a:r>
          </a:p>
          <a:p>
            <a:pPr lvl="0"/>
            <a:r>
              <a:rPr lang="en-US" dirty="0">
                <a:solidFill>
                  <a:schemeClr val="tx1"/>
                </a:solidFill>
              </a:rPr>
              <a:t>POS - School Payment</a:t>
            </a:r>
          </a:p>
          <a:p>
            <a:pPr lvl="0"/>
            <a:r>
              <a:rPr lang="en-US" dirty="0">
                <a:solidFill>
                  <a:schemeClr val="tx1"/>
                </a:solidFill>
              </a:rPr>
              <a:t>POS - Purchase With Cash Back</a:t>
            </a:r>
          </a:p>
          <a:p>
            <a:pPr marL="0" indent="0">
              <a:buNone/>
            </a:pPr>
            <a:endParaRPr lang="en-US" dirty="0"/>
          </a:p>
        </p:txBody>
      </p:sp>
      <p:sp>
        <p:nvSpPr>
          <p:cNvPr id="14" name="Content Placeholder 1"/>
          <p:cNvSpPr txBox="1">
            <a:spLocks/>
          </p:cNvSpPr>
          <p:nvPr/>
        </p:nvSpPr>
        <p:spPr bwMode="auto">
          <a:xfrm>
            <a:off x="4572000" y="1447800"/>
            <a:ext cx="3733800" cy="44196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E46C0A"/>
              </a:buClr>
              <a:buSzPct val="120000"/>
              <a:buFont typeface="Wingdings" pitchFamily="2" charset="2"/>
              <a:buChar char="§"/>
              <a:defRPr kern="1200" baseline="0">
                <a:solidFill>
                  <a:srgbClr val="F79646"/>
                </a:solidFill>
                <a:latin typeface="Malgun Gothic" pitchFamily="34" charset="-127"/>
                <a:ea typeface="MS PGothic" pitchFamily="34" charset="-128"/>
                <a:cs typeface="Malgun Gothic" charset="0"/>
              </a:defRPr>
            </a:lvl1pPr>
            <a:lvl2pPr marL="742950" indent="-285750" algn="l" rtl="0" eaLnBrk="0" fontAlgn="base" hangingPunct="0">
              <a:spcBef>
                <a:spcPct val="20000"/>
              </a:spcBef>
              <a:spcAft>
                <a:spcPct val="0"/>
              </a:spcAft>
              <a:buFont typeface="Wingdings" pitchFamily="2" charset="2"/>
              <a:buChar char="§"/>
              <a:defRPr sz="1600" kern="1200">
                <a:solidFill>
                  <a:schemeClr val="tx1"/>
                </a:solidFill>
                <a:latin typeface="+mn-lt"/>
                <a:ea typeface="MS PGothic" pitchFamily="34" charset="-128"/>
                <a:cs typeface="MS PGothic" pitchFamily="34" charset="-128"/>
              </a:defRPr>
            </a:lvl2pPr>
            <a:lvl3pPr marL="1143000" indent="-228600" algn="l" rtl="0" eaLnBrk="0" fontAlgn="base" hangingPunct="0">
              <a:spcBef>
                <a:spcPct val="20000"/>
              </a:spcBef>
              <a:spcAft>
                <a:spcPct val="0"/>
              </a:spcAft>
              <a:buFont typeface="Arial" pitchFamily="34" charset="0"/>
              <a:buChar char="•"/>
              <a:defRPr sz="1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sz="1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2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a:solidFill>
                  <a:schemeClr val="tx1"/>
                </a:solidFill>
              </a:rPr>
              <a:t>POS - Cash Deposit</a:t>
            </a:r>
          </a:p>
          <a:p>
            <a:pPr lvl="0"/>
            <a:r>
              <a:rPr lang="en-US" dirty="0">
                <a:solidFill>
                  <a:schemeClr val="tx1"/>
                </a:solidFill>
              </a:rPr>
              <a:t>POS - Benefit Cash Withdrawal</a:t>
            </a:r>
          </a:p>
          <a:p>
            <a:pPr lvl="0"/>
            <a:r>
              <a:rPr lang="en-US" dirty="0">
                <a:solidFill>
                  <a:schemeClr val="tx1"/>
                </a:solidFill>
              </a:rPr>
              <a:t>POS - Cash Deposit to Card</a:t>
            </a:r>
          </a:p>
          <a:p>
            <a:pPr lvl="0"/>
            <a:r>
              <a:rPr lang="en-US" dirty="0">
                <a:solidFill>
                  <a:schemeClr val="tx1"/>
                </a:solidFill>
              </a:rPr>
              <a:t>POS - M Banking</a:t>
            </a:r>
          </a:p>
          <a:p>
            <a:pPr lvl="0"/>
            <a:r>
              <a:rPr lang="en-US" dirty="0">
                <a:solidFill>
                  <a:schemeClr val="tx1"/>
                </a:solidFill>
              </a:rPr>
              <a:t>POS - Cash Withdrawal</a:t>
            </a:r>
          </a:p>
          <a:p>
            <a:pPr lvl="0"/>
            <a:r>
              <a:rPr lang="en-US" dirty="0">
                <a:solidFill>
                  <a:schemeClr val="tx1"/>
                </a:solidFill>
              </a:rPr>
              <a:t>POS - Balance Enquiry</a:t>
            </a:r>
          </a:p>
          <a:p>
            <a:pPr lvl="0"/>
            <a:r>
              <a:rPr lang="en-US" dirty="0">
                <a:solidFill>
                  <a:schemeClr val="tx1"/>
                </a:solidFill>
              </a:rPr>
              <a:t>POS - Mini Statement</a:t>
            </a:r>
          </a:p>
          <a:p>
            <a:pPr marL="0" indent="0">
              <a:buNone/>
            </a:pPr>
            <a:endParaRPr lang="en-US" dirty="0"/>
          </a:p>
        </p:txBody>
      </p:sp>
    </p:spTree>
    <p:extLst>
      <p:ext uri="{BB962C8B-B14F-4D97-AF65-F5344CB8AC3E}">
        <p14:creationId xmlns:p14="http://schemas.microsoft.com/office/powerpoint/2010/main" val="2529536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flow</a:t>
            </a:r>
          </a:p>
        </p:txBody>
      </p:sp>
      <p:pic>
        <p:nvPicPr>
          <p:cNvPr id="4" name="Content Placeholder 3" descr="https://www.codeproject.com/KB/scrapbook/ISO8583/Overall_1.jpg"/>
          <p:cNvPicPr>
            <a:picLocks noGrp="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838200" y="1828800"/>
            <a:ext cx="7467600" cy="2286000"/>
          </a:xfrm>
          <a:prstGeom prst="rect">
            <a:avLst/>
          </a:prstGeom>
          <a:noFill/>
          <a:ln>
            <a:noFill/>
          </a:ln>
        </p:spPr>
      </p:pic>
    </p:spTree>
    <p:extLst>
      <p:ext uri="{BB962C8B-B14F-4D97-AF65-F5344CB8AC3E}">
        <p14:creationId xmlns:p14="http://schemas.microsoft.com/office/powerpoint/2010/main" val="528974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p>
        </p:txBody>
      </p:sp>
      <p:sp>
        <p:nvSpPr>
          <p:cNvPr id="3" name="Content Placeholder 2"/>
          <p:cNvSpPr>
            <a:spLocks noGrp="1"/>
          </p:cNvSpPr>
          <p:nvPr>
            <p:ph sz="quarter" idx="15"/>
          </p:nvPr>
        </p:nvSpPr>
        <p:spPr/>
        <p:txBody>
          <a:bodyPr/>
          <a:lstStyle/>
          <a:p>
            <a:pPr algn="just"/>
            <a:r>
              <a:rPr lang="en-US" sz="1600" b="1" dirty="0">
                <a:solidFill>
                  <a:schemeClr val="tx1"/>
                </a:solidFill>
              </a:rPr>
              <a:t>Web services</a:t>
            </a:r>
            <a:r>
              <a:rPr lang="en-US" sz="1600" dirty="0">
                <a:solidFill>
                  <a:schemeClr val="tx1"/>
                </a:solidFill>
              </a:rPr>
              <a:t> - Our alternate channels uses web services (APIs) to integrate to co-banking system NAV. This eliminates the need for special database rights as the account is set within the co-banking system.</a:t>
            </a:r>
          </a:p>
          <a:p>
            <a:pPr algn="just"/>
            <a:r>
              <a:rPr lang="en-US" sz="1600" b="1" dirty="0">
                <a:solidFill>
                  <a:schemeClr val="tx1"/>
                </a:solidFill>
              </a:rPr>
              <a:t>Encryption</a:t>
            </a:r>
            <a:r>
              <a:rPr lang="en-US" sz="1600" dirty="0">
                <a:solidFill>
                  <a:schemeClr val="tx1"/>
                </a:solidFill>
              </a:rPr>
              <a:t> – All alternate channels key link information is encrypted and unreadable to human eyes. This means that these information cannot be edited even in the backend. The encryption is done at the point the information is linked to the alternate channels. </a:t>
            </a:r>
          </a:p>
          <a:p>
            <a:pPr algn="just"/>
            <a:r>
              <a:rPr lang="en-US" sz="1600" b="1" dirty="0">
                <a:solidFill>
                  <a:schemeClr val="tx1"/>
                </a:solidFill>
              </a:rPr>
              <a:t>No Passwords</a:t>
            </a:r>
            <a:r>
              <a:rPr lang="en-US" sz="1600" dirty="0">
                <a:solidFill>
                  <a:schemeClr val="tx1"/>
                </a:solidFill>
              </a:rPr>
              <a:t> –Our Navision web services have been configured to use access keys to login to Navision. These access keys are only used as by the APIs and no user can login to Dynamics Navision using the access key.</a:t>
            </a:r>
          </a:p>
          <a:p>
            <a:pPr algn="just"/>
            <a:r>
              <a:rPr lang="en-US" sz="1600" b="1" dirty="0">
                <a:solidFill>
                  <a:schemeClr val="tx1"/>
                </a:solidFill>
              </a:rPr>
              <a:t>Auto posting</a:t>
            </a:r>
            <a:r>
              <a:rPr lang="en-US" sz="1600" dirty="0">
                <a:solidFill>
                  <a:schemeClr val="tx1"/>
                </a:solidFill>
              </a:rPr>
              <a:t> – Dynamics Navision has a job scheduler which is used to process set tasks at desired time. If not configured nicely the Job scheduler can be a challenge to use. We have incorporated the process of updating the customers’ accounts(posting) into our bridge application, with this the task of setting up the job scheduler becomes obsolete.</a:t>
            </a:r>
          </a:p>
          <a:p>
            <a:pPr algn="just"/>
            <a:r>
              <a:rPr lang="en-US" sz="1600" b="1" dirty="0">
                <a:solidFill>
                  <a:schemeClr val="tx1"/>
                </a:solidFill>
              </a:rPr>
              <a:t>Reconciliations</a:t>
            </a:r>
            <a:r>
              <a:rPr lang="en-US" sz="1600" dirty="0">
                <a:solidFill>
                  <a:schemeClr val="tx1"/>
                </a:solidFill>
              </a:rPr>
              <a:t> -  We have automated reconciliations module in dynamics Navision for reconciling data from the alternate channels.</a:t>
            </a:r>
          </a:p>
          <a:p>
            <a:endParaRPr lang="en-US" dirty="0"/>
          </a:p>
        </p:txBody>
      </p:sp>
    </p:spTree>
    <p:extLst>
      <p:ext uri="{BB962C8B-B14F-4D97-AF65-F5344CB8AC3E}">
        <p14:creationId xmlns:p14="http://schemas.microsoft.com/office/powerpoint/2010/main" val="325034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96E1-30A6-811A-805D-90864AF51F3A}"/>
              </a:ext>
            </a:extLst>
          </p:cNvPr>
          <p:cNvSpPr>
            <a:spLocks noGrp="1"/>
          </p:cNvSpPr>
          <p:nvPr>
            <p:ph type="title"/>
          </p:nvPr>
        </p:nvSpPr>
        <p:spPr/>
        <p:txBody>
          <a:bodyPr/>
          <a:lstStyle/>
          <a:p>
            <a:r>
              <a:rPr lang="en-US" dirty="0"/>
              <a:t>Server Setup</a:t>
            </a:r>
          </a:p>
        </p:txBody>
      </p:sp>
      <p:sp>
        <p:nvSpPr>
          <p:cNvPr id="3" name="Content Placeholder 2">
            <a:extLst>
              <a:ext uri="{FF2B5EF4-FFF2-40B4-BE49-F238E27FC236}">
                <a16:creationId xmlns:a16="http://schemas.microsoft.com/office/drawing/2014/main" id="{2163126A-0070-13D7-ACDC-4996587E9825}"/>
              </a:ext>
            </a:extLst>
          </p:cNvPr>
          <p:cNvSpPr>
            <a:spLocks noGrp="1"/>
          </p:cNvSpPr>
          <p:nvPr>
            <p:ph sz="quarter" idx="15"/>
          </p:nvPr>
        </p:nvSpPr>
        <p:spPr/>
        <p:txBody>
          <a:bodyPr/>
          <a:lstStyle/>
          <a:p>
            <a:endParaRPr lang="en-US" dirty="0"/>
          </a:p>
        </p:txBody>
      </p:sp>
    </p:spTree>
    <p:extLst>
      <p:ext uri="{BB962C8B-B14F-4D97-AF65-F5344CB8AC3E}">
        <p14:creationId xmlns:p14="http://schemas.microsoft.com/office/powerpoint/2010/main" val="136184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815F91E45204044B5591346FFDCB8DE" ma:contentTypeVersion="0" ma:contentTypeDescription="Create a new document." ma:contentTypeScope="" ma:versionID="477816e8aa288fff4b2cf9b2189ce96b">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CE6AF8-0D34-4A4B-AA6A-C62E096AD6FF}">
  <ds:schemaRefs>
    <ds:schemaRef ds:uri="http://schemas.microsoft.com/office/2006/documentManagement/types"/>
    <ds:schemaRef ds:uri="http://purl.org/dc/dcmitype/"/>
    <ds:schemaRef ds:uri="http://purl.org/dc/elements/1.1/"/>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07AD1253-939B-4AFB-9297-2D03F051FC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73A8C95-D299-41F1-9313-5011EE8C45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52327</TotalTime>
  <Words>589</Words>
  <Application>Microsoft Office PowerPoint</Application>
  <PresentationFormat>On-screen Show (4:3)</PresentationFormat>
  <Paragraphs>127</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Malgun Gothic</vt:lpstr>
      <vt:lpstr>Arial</vt:lpstr>
      <vt:lpstr>Calibri</vt:lpstr>
      <vt:lpstr>Cambria</vt:lpstr>
      <vt:lpstr>Segoe Condensed</vt:lpstr>
      <vt:lpstr>Wingdings</vt:lpstr>
      <vt:lpstr>Office Theme</vt:lpstr>
      <vt:lpstr>PowerPoint Presentation</vt:lpstr>
      <vt:lpstr>Who We Are</vt:lpstr>
      <vt:lpstr>What we offer</vt:lpstr>
      <vt:lpstr>Sacco Erp</vt:lpstr>
      <vt:lpstr>Registration Process</vt:lpstr>
      <vt:lpstr>Loan Application Process</vt:lpstr>
      <vt:lpstr>Loan Application Process ..</vt:lpstr>
      <vt:lpstr>Mobile Banking</vt:lpstr>
      <vt:lpstr>PowerPoint Presentation</vt:lpstr>
      <vt:lpstr>Agency Banking</vt:lpstr>
      <vt:lpstr>Atm Bridge</vt:lpstr>
      <vt:lpstr>Process flow</vt:lpstr>
      <vt:lpstr>Security</vt:lpstr>
      <vt:lpstr>Server Setup</vt:lpstr>
      <vt:lpstr>PowerPoint Presentation</vt:lpstr>
    </vt:vector>
  </TitlesOfParts>
  <Company>Techno Brain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Anand Mohan</dc:creator>
  <cp:lastModifiedBy>Paul Njoroge</cp:lastModifiedBy>
  <cp:revision>2591</cp:revision>
  <cp:lastPrinted>2016-09-07T14:23:05Z</cp:lastPrinted>
  <dcterms:created xsi:type="dcterms:W3CDTF">2011-11-15T10:17:45Z</dcterms:created>
  <dcterms:modified xsi:type="dcterms:W3CDTF">2024-08-31T10:52:56Z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0x0101003815F91E45204044B5591346FFDCB8DE</vt:lpwstr>
  </property>
</Properties>
</file>